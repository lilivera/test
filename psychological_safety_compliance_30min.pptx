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0:00-2:00
本日の研修は30分です。心理的安全性を、単なる「仲のよさ」ではなく、コンプライアンス違反を早期に止めるための実務スキルとして扱います。
最初に前提を置きます。今日の場では、実在する人物名、顧客名、案件名、個別の疑いの詳細は出さないでください。個別事案は、社内規程に従って上長、人事、法務、コンプライアンス部門、通報窓口に相談してください。
今日のゴールは、心理的安全性を「理解する」だけではなく、違和感が出たときの一言と、相談先につなぐ行動を持ち帰ることです。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2:00-5:00
時間配分を共有します。30分なので、用語解説に時間をかけすぎません。最も時間を使うのはケース討議です。
今日の議論では、個別の法的判断や犯人探しはしません。扱うのは、違和感がある場面で「誰が」「何を恐れて」「どの一言なら声を出せるか」、そして「どこにつなぐか」です。
この研修の成果物は、最後に決めるチームの約束です。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5:00-8:30
心理的安全性は、メンバー同士が甘くなることではありません。むしろ、問題を隠さずに扱うための土台です。
質問したら「そんなことも知らないのか」と見られる。反対意見を言ったら「面倒な人」と扱われる。ミスを言うと責められる。こうした予測があると、人は合理的に黙ります。
コンプライアンスでは、この沈黙が危険です。早い段階の違和感が、相談されないまま事案化します。だから、心理的安全性は「雰囲気づくり」ではなく、リスク管理の一部です。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8:30-13:00
違反やハラスメント、不適切な処理は、突然完成形で現れるわけではありません。多くの場合、最初は「少し変だ」「この言い方は危ない」「この処理でよいのか」という違和感です。
ここで重要なのは、相談を個人の勇気だけに依存しないことです。相談しやすい反応をチームで持っておく。相談先を知っておく。記録や事実確認に移せるようにする。
心理的安全性は、通報制度そのものの代替ではありません。通報制度や相談窓口につながる前の、日常会話の入口を開くものです。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13:00-16:00
ここから討議に入る前に、沈黙の原因を確認します。人が黙るのは、倫理観が低いからだけではありません。発言によって自分が損をする、評価が下がる、関係が悪くなると予測したとき、人は黙ります。
4つの恐れを見てください。無知、無能、否定的、面倒な人。このどれが強いかは、職場やチームによって違います。
ここで30秒だけ考えてもらいます。自分のチームでは、どれがいちばん発言を止めそうでしょうか。全体共有は1〜2名だけで十分です。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16:00-18:00
心理的安全性は「発言する側」の勇気の問題として扱われがちですが、実務では聞く側の反応が重要です。
第一に、止める。流れで押し切らず、確認の時間を作ります。第二に、訊く。責める質問ではなく、違和感の対象、事実、影響範囲を聞きます。第三に、つなぐ。個人の感情論で終わらせず、記録、上長、専門部門、窓口につなげます。
この3つの行動を、次のケースで使います。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18:00-25:00
ケース討議に入ります。実案件ではなく架空事例として扱います。個別の社内事案に似ていても、実名や案件名は出さないでください。
まず個人で1分。問いは3つです。Aさんは何を恐れているか。聞く側は最初にどの一言を返すか。コンプライアンス上どこへつなぐか。
次にペアまたは小グループで5分。正解を当てるより、実際に使える一言を作ってください。
共有は2分です。各グループから一言だけもらいます。よい例は、「今ここで数字を変える判断はせず、根拠と差異を確認しましょう」「事実、見込み、未確定を分けて報告しましょう」「必要なら上長とコンプライアンス部門に確認しましょ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25:00-30:00
最後に、チームの約束を3つに絞ります。違和感を言った人を、まず責めない。事実、推測、判断を分ける。迷ったら、記録して相談先につなぐ。
ここで各自に、次の1週間で使う一言を決めてもらいます。例として、「念のため、事実確認してから進めましょう」「この表現は誤解されるかもしれないので確認しましょう」「一人で判断せず、相談先に確認しましょう」があります。
締めはこう言います。コンプライアンスは、問題が起きた後に責める仕組みではなく、問題を早く見つけて止める仕組みです。その入口を開くのが、心理的安全性です。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このスライドは投影必須ではありません。研修後の質問や参考資料の案内用です。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pic>
        <p:nvPicPr>
          <p:cNvPr id="2" name="Image 0" descr="/mnt/data/a_bright_modern_office_meeting_scene_with_a_wide_batch_4.png">    </p:cNvPr>
          <p:cNvPicPr>
            <a:picLocks noChangeAspect="1"/>
          </p:cNvPicPr>
          <p:nvPr/>
        </p:nvPicPr>
        <p:blipFill>
          <a:blip r:embed="rId1"/>
          <a:srcRect l="3" r="3" t="0" b="0"/>
          <a:stretch/>
        </p:blipFill>
        <p:spPr>
          <a:xfrm>
            <a:off x="6537960" y="1024128"/>
            <a:ext cx="5166360" cy="2907792"/>
          </a:xfrm>
          <a:prstGeom prst="rect">
            <a:avLst/>
          </a:prstGeom>
        </p:spPr>
      </p:pic>
      <p:sp>
        <p:nvSpPr>
          <p:cNvPr id="3" name="Text 0"/>
          <p:cNvSpPr/>
          <p:nvPr/>
        </p:nvSpPr>
        <p:spPr>
          <a:xfrm>
            <a:off x="658368" y="1078992"/>
            <a:ext cx="5394960" cy="1143000"/>
          </a:xfrm>
          <a:prstGeom prst="rect">
            <a:avLst/>
          </a:prstGeom>
          <a:noFill/>
          <a:ln/>
        </p:spPr>
        <p:txBody>
          <a:bodyPr wrap="square" lIns="0" tIns="0" rIns="0" bIns="0" rtlCol="0" anchor="t">
            <a:normAutofit/>
          </a:bodyPr>
          <a:lstStyle/>
          <a:p>
            <a:pPr algn="l" indent="0" marL="0">
              <a:lnSpc>
                <a:spcPct val="92000"/>
              </a:lnSpc>
              <a:buNone/>
            </a:pPr>
            <a:r>
              <a:rPr lang="en-US" sz="4100" b="1" dirty="0">
                <a:solidFill>
                  <a:srgbClr val="1F2A44"/>
                </a:solidFill>
                <a:latin typeface="Noto Sans CJK JP" pitchFamily="34" charset="0"/>
                <a:ea typeface="Noto Sans CJK JP" pitchFamily="34" charset="-122"/>
                <a:cs typeface="Noto Sans CJK JP" pitchFamily="34" charset="-120"/>
              </a:rPr>
              <a:t>心理的安全性 ×</a:t>
            </a:r>
            <a:endParaRPr lang="en-US" sz="4100" dirty="0"/>
          </a:p>
          <a:p>
            <a:pPr algn="l" indent="0" marL="0">
              <a:lnSpc>
                <a:spcPct val="92000"/>
              </a:lnSpc>
              <a:buNone/>
            </a:pPr>
            <a:r>
              <a:rPr lang="en-US" sz="4100" b="1" dirty="0">
                <a:solidFill>
                  <a:srgbClr val="1F2A44"/>
                </a:solidFill>
                <a:latin typeface="Noto Sans CJK JP" pitchFamily="34" charset="0"/>
                <a:ea typeface="Noto Sans CJK JP" pitchFamily="34" charset="-122"/>
                <a:cs typeface="Noto Sans CJK JP" pitchFamily="34" charset="-120"/>
              </a:rPr>
              <a:t>コンプライアンス</a:t>
            </a:r>
            <a:endParaRPr lang="en-US" sz="4100" dirty="0"/>
          </a:p>
        </p:txBody>
      </p:sp>
      <p:sp>
        <p:nvSpPr>
          <p:cNvPr id="4" name="Text 1"/>
          <p:cNvSpPr/>
          <p:nvPr/>
        </p:nvSpPr>
        <p:spPr>
          <a:xfrm>
            <a:off x="685800" y="2487168"/>
            <a:ext cx="5166360" cy="393192"/>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1F8F8A"/>
                </a:solidFill>
                <a:latin typeface="Noto Sans CJK JP" pitchFamily="34" charset="0"/>
                <a:ea typeface="Noto Sans CJK JP" pitchFamily="34" charset="-122"/>
                <a:cs typeface="Noto Sans CJK JP" pitchFamily="34" charset="-120"/>
              </a:rPr>
              <a:t>違和感を言える組織が、違反を早く止める</a:t>
            </a:r>
            <a:endParaRPr lang="en-US" sz="1900" dirty="0"/>
          </a:p>
        </p:txBody>
      </p:sp>
      <p:sp>
        <p:nvSpPr>
          <p:cNvPr id="5" name="Text 2"/>
          <p:cNvSpPr/>
          <p:nvPr/>
        </p:nvSpPr>
        <p:spPr>
          <a:xfrm>
            <a:off x="685800" y="4498848"/>
            <a:ext cx="4114800" cy="320040"/>
          </a:xfrm>
          <a:prstGeom prst="rect">
            <a:avLst/>
          </a:prstGeom>
          <a:noFill/>
          <a:ln/>
        </p:spPr>
        <p:txBody>
          <a:bodyPr wrap="square" lIns="0" tIns="0" rIns="0" bIns="0" rtlCol="0" anchor="t"/>
          <a:lstStyle/>
          <a:p>
            <a:pPr algn="l" indent="0" marL="0">
              <a:lnSpc>
                <a:spcPct val="110000"/>
              </a:lnSpc>
              <a:buNone/>
            </a:pPr>
            <a:r>
              <a:rPr lang="en-US" sz="1800" b="1" dirty="0">
                <a:solidFill>
                  <a:srgbClr val="1F2A44"/>
                </a:solidFill>
                <a:latin typeface="Noto Sans CJK JP" pitchFamily="34" charset="0"/>
                <a:ea typeface="Noto Sans CJK JP" pitchFamily="34" charset="-122"/>
                <a:cs typeface="Noto Sans CJK JP" pitchFamily="34" charset="-120"/>
              </a:rPr>
              <a:t>30分勉強会｜意見交換型</a:t>
            </a:r>
            <a:endParaRPr lang="en-US" sz="1800" dirty="0"/>
          </a:p>
        </p:txBody>
      </p:sp>
      <p:sp>
        <p:nvSpPr>
          <p:cNvPr id="6" name="Text 3"/>
          <p:cNvSpPr/>
          <p:nvPr/>
        </p:nvSpPr>
        <p:spPr>
          <a:xfrm>
            <a:off x="685800" y="5010912"/>
            <a:ext cx="4663440" cy="713232"/>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667085"/>
                </a:solidFill>
                <a:latin typeface="Noto Sans CJK JP" pitchFamily="34" charset="0"/>
                <a:ea typeface="Noto Sans CJK JP" pitchFamily="34" charset="-122"/>
                <a:cs typeface="Noto Sans CJK JP" pitchFamily="34" charset="-120"/>
              </a:rPr>
              <a:t>目的：知識を覚えるより、</a:t>
            </a:r>
            <a:endParaRPr lang="en-US" sz="1700" dirty="0"/>
          </a:p>
          <a:p>
            <a:pPr algn="l" indent="0" marL="0">
              <a:lnSpc>
                <a:spcPct val="112000"/>
              </a:lnSpc>
              <a:buNone/>
            </a:pPr>
            <a:r>
              <a:rPr lang="en-US" sz="1700" dirty="0">
                <a:solidFill>
                  <a:srgbClr val="667085"/>
                </a:solidFill>
                <a:latin typeface="Noto Sans CJK JP" pitchFamily="34" charset="0"/>
                <a:ea typeface="Noto Sans CJK JP" pitchFamily="34" charset="-122"/>
                <a:cs typeface="Noto Sans CJK JP" pitchFamily="34" charset="-120"/>
              </a:rPr>
              <a:t>「言う・聞く・つなぐ」行動を決める。</a:t>
            </a:r>
            <a:endParaRPr lang="en-US" sz="1700" dirty="0"/>
          </a:p>
        </p:txBody>
      </p:sp>
      <p:sp>
        <p:nvSpPr>
          <p:cNvPr id="7" name="Text 4"/>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30分で扱う範囲</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講義を短く、対話と行動決定に時間を使う</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02</a:t>
            </a:r>
            <a:endParaRPr lang="en-US" sz="800" dirty="0"/>
          </a:p>
        </p:txBody>
      </p:sp>
      <p:pic>
        <p:nvPicPr>
          <p:cNvPr id="5" name="Image 0" descr="/mnt/data/a_clean_modern_3d_isometric_illustrative_infograp_batch_3.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353312"/>
            <a:ext cx="960120" cy="228600"/>
          </a:xfrm>
          <a:prstGeom prst="rect">
            <a:avLst/>
          </a:prstGeom>
          <a:noFill/>
          <a:ln/>
        </p:spPr>
        <p:txBody>
          <a:bodyPr wrap="square" lIns="0" tIns="0" rIns="0" bIns="0" rtlCol="0" anchor="t"/>
          <a:lstStyle/>
          <a:p>
            <a:pPr algn="l" indent="0" marL="0">
              <a:lnSpc>
                <a:spcPct val="110000"/>
              </a:lnSpc>
              <a:buNone/>
            </a:pPr>
            <a:r>
              <a:rPr lang="en-US" sz="1500" b="1" dirty="0">
                <a:solidFill>
                  <a:srgbClr val="1F8F8A"/>
                </a:solidFill>
                <a:latin typeface="Noto Sans CJK JP" pitchFamily="34" charset="0"/>
                <a:ea typeface="Noto Sans CJK JP" pitchFamily="34" charset="-122"/>
                <a:cs typeface="Noto Sans CJK JP" pitchFamily="34" charset="-120"/>
              </a:rPr>
              <a:t>0-5分</a:t>
            </a:r>
            <a:endParaRPr lang="en-US" sz="1500" dirty="0"/>
          </a:p>
        </p:txBody>
      </p:sp>
      <p:sp>
        <p:nvSpPr>
          <p:cNvPr id="7" name="Text 4"/>
          <p:cNvSpPr/>
          <p:nvPr/>
        </p:nvSpPr>
        <p:spPr>
          <a:xfrm>
            <a:off x="1755648" y="1325880"/>
            <a:ext cx="1874520" cy="310896"/>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導入</a:t>
            </a:r>
            <a:endParaRPr lang="en-US" sz="2200" dirty="0"/>
          </a:p>
        </p:txBody>
      </p:sp>
      <p:sp>
        <p:nvSpPr>
          <p:cNvPr id="8" name="Text 5"/>
          <p:cNvSpPr/>
          <p:nvPr/>
        </p:nvSpPr>
        <p:spPr>
          <a:xfrm>
            <a:off x="3657600" y="1353312"/>
            <a:ext cx="2450592" cy="283464"/>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場のルールと本日の問い</a:t>
            </a:r>
            <a:endParaRPr lang="en-US" sz="1550" dirty="0"/>
          </a:p>
        </p:txBody>
      </p:sp>
      <p:sp>
        <p:nvSpPr>
          <p:cNvPr id="9" name="Text 6"/>
          <p:cNvSpPr/>
          <p:nvPr/>
        </p:nvSpPr>
        <p:spPr>
          <a:xfrm>
            <a:off x="713232" y="2313432"/>
            <a:ext cx="960120" cy="228600"/>
          </a:xfrm>
          <a:prstGeom prst="rect">
            <a:avLst/>
          </a:prstGeom>
          <a:noFill/>
          <a:ln/>
        </p:spPr>
        <p:txBody>
          <a:bodyPr wrap="square" lIns="0" tIns="0" rIns="0" bIns="0" rtlCol="0" anchor="t"/>
          <a:lstStyle/>
          <a:p>
            <a:pPr algn="l" indent="0" marL="0">
              <a:lnSpc>
                <a:spcPct val="110000"/>
              </a:lnSpc>
              <a:buNone/>
            </a:pPr>
            <a:r>
              <a:rPr lang="en-US" sz="1500" b="1" dirty="0">
                <a:solidFill>
                  <a:srgbClr val="1F8F8A"/>
                </a:solidFill>
                <a:latin typeface="Noto Sans CJK JP" pitchFamily="34" charset="0"/>
                <a:ea typeface="Noto Sans CJK JP" pitchFamily="34" charset="-122"/>
                <a:cs typeface="Noto Sans CJK JP" pitchFamily="34" charset="-120"/>
              </a:rPr>
              <a:t>5-13分</a:t>
            </a:r>
            <a:endParaRPr lang="en-US" sz="1500" dirty="0"/>
          </a:p>
        </p:txBody>
      </p:sp>
      <p:sp>
        <p:nvSpPr>
          <p:cNvPr id="10" name="Text 7"/>
          <p:cNvSpPr/>
          <p:nvPr/>
        </p:nvSpPr>
        <p:spPr>
          <a:xfrm>
            <a:off x="1755648" y="2286000"/>
            <a:ext cx="1874520" cy="310896"/>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ミニ講義</a:t>
            </a:r>
            <a:endParaRPr lang="en-US" sz="2200" dirty="0"/>
          </a:p>
        </p:txBody>
      </p:sp>
      <p:sp>
        <p:nvSpPr>
          <p:cNvPr id="11" name="Text 8"/>
          <p:cNvSpPr/>
          <p:nvPr/>
        </p:nvSpPr>
        <p:spPr>
          <a:xfrm>
            <a:off x="3657600" y="2313432"/>
            <a:ext cx="2450592" cy="283464"/>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心理的安全性とコンプライアンスの接点</a:t>
            </a:r>
            <a:endParaRPr lang="en-US" sz="1550" dirty="0"/>
          </a:p>
        </p:txBody>
      </p:sp>
      <p:sp>
        <p:nvSpPr>
          <p:cNvPr id="12" name="Text 9"/>
          <p:cNvSpPr/>
          <p:nvPr/>
        </p:nvSpPr>
        <p:spPr>
          <a:xfrm>
            <a:off x="713232" y="3273552"/>
            <a:ext cx="960120" cy="228600"/>
          </a:xfrm>
          <a:prstGeom prst="rect">
            <a:avLst/>
          </a:prstGeom>
          <a:noFill/>
          <a:ln/>
        </p:spPr>
        <p:txBody>
          <a:bodyPr wrap="square" lIns="0" tIns="0" rIns="0" bIns="0" rtlCol="0" anchor="t"/>
          <a:lstStyle/>
          <a:p>
            <a:pPr algn="l" indent="0" marL="0">
              <a:lnSpc>
                <a:spcPct val="110000"/>
              </a:lnSpc>
              <a:buNone/>
            </a:pPr>
            <a:r>
              <a:rPr lang="en-US" sz="1500" b="1" dirty="0">
                <a:solidFill>
                  <a:srgbClr val="1F8F8A"/>
                </a:solidFill>
                <a:latin typeface="Noto Sans CJK JP" pitchFamily="34" charset="0"/>
                <a:ea typeface="Noto Sans CJK JP" pitchFamily="34" charset="-122"/>
                <a:cs typeface="Noto Sans CJK JP" pitchFamily="34" charset="-120"/>
              </a:rPr>
              <a:t>13-25分</a:t>
            </a:r>
            <a:endParaRPr lang="en-US" sz="1500" dirty="0"/>
          </a:p>
        </p:txBody>
      </p:sp>
      <p:sp>
        <p:nvSpPr>
          <p:cNvPr id="13" name="Text 10"/>
          <p:cNvSpPr/>
          <p:nvPr/>
        </p:nvSpPr>
        <p:spPr>
          <a:xfrm>
            <a:off x="1755648" y="3246120"/>
            <a:ext cx="1874520" cy="310896"/>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ケース討議</a:t>
            </a:r>
            <a:endParaRPr lang="en-US" sz="2200" dirty="0"/>
          </a:p>
        </p:txBody>
      </p:sp>
      <p:sp>
        <p:nvSpPr>
          <p:cNvPr id="14" name="Text 11"/>
          <p:cNvSpPr/>
          <p:nvPr/>
        </p:nvSpPr>
        <p:spPr>
          <a:xfrm>
            <a:off x="3657600" y="3273552"/>
            <a:ext cx="2450592" cy="283464"/>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違和感をどう扱うか</a:t>
            </a:r>
            <a:endParaRPr lang="en-US" sz="1550" dirty="0"/>
          </a:p>
        </p:txBody>
      </p:sp>
      <p:sp>
        <p:nvSpPr>
          <p:cNvPr id="15" name="Text 12"/>
          <p:cNvSpPr/>
          <p:nvPr/>
        </p:nvSpPr>
        <p:spPr>
          <a:xfrm>
            <a:off x="713232" y="4233672"/>
            <a:ext cx="960120" cy="228600"/>
          </a:xfrm>
          <a:prstGeom prst="rect">
            <a:avLst/>
          </a:prstGeom>
          <a:noFill/>
          <a:ln/>
        </p:spPr>
        <p:txBody>
          <a:bodyPr wrap="square" lIns="0" tIns="0" rIns="0" bIns="0" rtlCol="0" anchor="t"/>
          <a:lstStyle/>
          <a:p>
            <a:pPr algn="l" indent="0" marL="0">
              <a:lnSpc>
                <a:spcPct val="110000"/>
              </a:lnSpc>
              <a:buNone/>
            </a:pPr>
            <a:r>
              <a:rPr lang="en-US" sz="1500" b="1" dirty="0">
                <a:solidFill>
                  <a:srgbClr val="1F8F8A"/>
                </a:solidFill>
                <a:latin typeface="Noto Sans CJK JP" pitchFamily="34" charset="0"/>
                <a:ea typeface="Noto Sans CJK JP" pitchFamily="34" charset="-122"/>
                <a:cs typeface="Noto Sans CJK JP" pitchFamily="34" charset="-120"/>
              </a:rPr>
              <a:t>25-30分</a:t>
            </a:r>
            <a:endParaRPr lang="en-US" sz="1500" dirty="0"/>
          </a:p>
        </p:txBody>
      </p:sp>
      <p:sp>
        <p:nvSpPr>
          <p:cNvPr id="16" name="Text 13"/>
          <p:cNvSpPr/>
          <p:nvPr/>
        </p:nvSpPr>
        <p:spPr>
          <a:xfrm>
            <a:off x="1755648" y="4206240"/>
            <a:ext cx="1874520" cy="310896"/>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行動宣言</a:t>
            </a:r>
            <a:endParaRPr lang="en-US" sz="2200" dirty="0"/>
          </a:p>
        </p:txBody>
      </p:sp>
      <p:sp>
        <p:nvSpPr>
          <p:cNvPr id="17" name="Text 14"/>
          <p:cNvSpPr/>
          <p:nvPr/>
        </p:nvSpPr>
        <p:spPr>
          <a:xfrm>
            <a:off x="3657600" y="4233672"/>
            <a:ext cx="2450592" cy="283464"/>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チームで始める3つの約束</a:t>
            </a:r>
            <a:endParaRPr lang="en-US" sz="1550" dirty="0"/>
          </a:p>
        </p:txBody>
      </p:sp>
      <p:sp>
        <p:nvSpPr>
          <p:cNvPr id="18" name="Text 15"/>
          <p:cNvSpPr/>
          <p:nvPr/>
        </p:nvSpPr>
        <p:spPr>
          <a:xfrm>
            <a:off x="713232" y="5559552"/>
            <a:ext cx="1097280" cy="256032"/>
          </a:xfrm>
          <a:prstGeom prst="rect">
            <a:avLst/>
          </a:prstGeom>
          <a:noFill/>
          <a:ln/>
        </p:spPr>
        <p:txBody>
          <a:bodyPr wrap="square" lIns="0" tIns="0" rIns="0" bIns="0" rtlCol="0" anchor="t">
            <a:normAutofit/>
          </a:bodyPr>
          <a:lstStyle/>
          <a:p>
            <a:pPr algn="l" indent="0" marL="0">
              <a:lnSpc>
                <a:spcPct val="110000"/>
              </a:lnSpc>
              <a:buNone/>
            </a:pPr>
            <a:r>
              <a:rPr lang="en-US" sz="1600" b="1" dirty="0">
                <a:solidFill>
                  <a:srgbClr val="1F2A44"/>
                </a:solidFill>
                <a:latin typeface="Noto Sans CJK JP" pitchFamily="34" charset="0"/>
                <a:ea typeface="Noto Sans CJK JP" pitchFamily="34" charset="-122"/>
                <a:cs typeface="Noto Sans CJK JP" pitchFamily="34" charset="-120"/>
              </a:rPr>
              <a:t>進め方</a:t>
            </a:r>
            <a:endParaRPr lang="en-US" sz="1600" dirty="0"/>
          </a:p>
        </p:txBody>
      </p:sp>
      <p:sp>
        <p:nvSpPr>
          <p:cNvPr id="19" name="Text 16"/>
          <p:cNvSpPr/>
          <p:nvPr/>
        </p:nvSpPr>
        <p:spPr>
          <a:xfrm>
            <a:off x="1810512" y="5550408"/>
            <a:ext cx="4480560" cy="429768"/>
          </a:xfrm>
          <a:prstGeom prst="rect">
            <a:avLst/>
          </a:prstGeom>
          <a:noFill/>
          <a:ln/>
        </p:spPr>
        <p:txBody>
          <a:bodyPr wrap="square" lIns="0" tIns="0" rIns="0" bIns="0" rtlCol="0" anchor="t">
            <a:normAutofit/>
          </a:bodyPr>
          <a:lstStyle/>
          <a:p>
            <a:pPr algn="l" indent="0" marL="0">
              <a:lnSpc>
                <a:spcPct val="110000"/>
              </a:lnSpc>
              <a:buNone/>
            </a:pPr>
            <a:r>
              <a:rPr lang="en-US" sz="1500" dirty="0">
                <a:solidFill>
                  <a:srgbClr val="667085"/>
                </a:solidFill>
                <a:latin typeface="Noto Sans CJK JP" pitchFamily="34" charset="0"/>
                <a:ea typeface="Noto Sans CJK JP" pitchFamily="34" charset="-122"/>
                <a:cs typeface="Noto Sans CJK JP" pitchFamily="34" charset="-120"/>
              </a:rPr>
              <a:t>正解探しより、発言しやすい受け止め方と、</a:t>
            </a:r>
            <a:endParaRPr lang="en-US" sz="1500" dirty="0"/>
          </a:p>
          <a:p>
            <a:pPr algn="l" indent="0" marL="0">
              <a:lnSpc>
                <a:spcPct val="110000"/>
              </a:lnSpc>
              <a:buNone/>
            </a:pPr>
            <a:r>
              <a:rPr lang="en-US" sz="1500" dirty="0">
                <a:solidFill>
                  <a:srgbClr val="667085"/>
                </a:solidFill>
                <a:latin typeface="Noto Sans CJK JP" pitchFamily="34" charset="0"/>
                <a:ea typeface="Noto Sans CJK JP" pitchFamily="34" charset="-122"/>
                <a:cs typeface="Noto Sans CJK JP" pitchFamily="34" charset="-120"/>
              </a:rPr>
              <a:t>社内ルールに沿った次の行動を確認します。</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心理的安全性とは</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「やさしい職場」ではなく、対人リスクを取れる状態</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03</a:t>
            </a:r>
            <a:endParaRPr lang="en-US" sz="800" dirty="0"/>
          </a:p>
        </p:txBody>
      </p:sp>
      <p:pic>
        <p:nvPicPr>
          <p:cNvPr id="5" name="Image 0" descr="/mnt/data/a_realistic_high_resolution_office_meeting_scene_batch_2.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389888"/>
            <a:ext cx="292608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ひとことで言うと</a:t>
            </a:r>
            <a:endParaRPr lang="en-US" sz="1700" dirty="0"/>
          </a:p>
        </p:txBody>
      </p:sp>
      <p:sp>
        <p:nvSpPr>
          <p:cNvPr id="7" name="Text 4"/>
          <p:cNvSpPr/>
          <p:nvPr/>
        </p:nvSpPr>
        <p:spPr>
          <a:xfrm>
            <a:off x="713232" y="1755648"/>
            <a:ext cx="5257800" cy="804672"/>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1F2A44"/>
                </a:solidFill>
                <a:latin typeface="Noto Sans CJK JP" pitchFamily="34" charset="0"/>
                <a:ea typeface="Noto Sans CJK JP" pitchFamily="34" charset="-122"/>
                <a:cs typeface="Noto Sans CJK JP" pitchFamily="34" charset="-120"/>
              </a:rPr>
              <a:t>質問・懸念・ミス・反対意見を、</a:t>
            </a:r>
            <a:endParaRPr lang="en-US" sz="2400" dirty="0"/>
          </a:p>
          <a:p>
            <a:pPr algn="l" indent="0" marL="0">
              <a:lnSpc>
                <a:spcPct val="104000"/>
              </a:lnSpc>
              <a:buNone/>
            </a:pPr>
            <a:r>
              <a:rPr lang="en-US" sz="2400" b="1" dirty="0">
                <a:solidFill>
                  <a:srgbClr val="1F2A44"/>
                </a:solidFill>
                <a:latin typeface="Noto Sans CJK JP" pitchFamily="34" charset="0"/>
                <a:ea typeface="Noto Sans CJK JP" pitchFamily="34" charset="-122"/>
                <a:cs typeface="Noto Sans CJK JP" pitchFamily="34" charset="-120"/>
              </a:rPr>
              <a:t>罰や恥を恐れずに言えるチームの状態。</a:t>
            </a:r>
            <a:endParaRPr lang="en-US" sz="2400" dirty="0"/>
          </a:p>
        </p:txBody>
      </p:sp>
      <p:sp>
        <p:nvSpPr>
          <p:cNvPr id="8" name="Text 5"/>
          <p:cNvSpPr/>
          <p:nvPr/>
        </p:nvSpPr>
        <p:spPr>
          <a:xfrm>
            <a:off x="713232" y="3154680"/>
            <a:ext cx="228600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誤解しないこと</a:t>
            </a:r>
            <a:endParaRPr lang="en-US" sz="1700" dirty="0"/>
          </a:p>
        </p:txBody>
      </p:sp>
      <p:sp>
        <p:nvSpPr>
          <p:cNvPr id="9" name="Text 6"/>
          <p:cNvSpPr/>
          <p:nvPr/>
        </p:nvSpPr>
        <p:spPr>
          <a:xfrm>
            <a:off x="841248" y="3547872"/>
            <a:ext cx="4617720" cy="804672"/>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11827"/>
                </a:solidFill>
                <a:latin typeface="Noto Sans CJK JP" pitchFamily="34" charset="0"/>
                <a:ea typeface="Noto Sans CJK JP" pitchFamily="34" charset="-122"/>
                <a:cs typeface="Noto Sans CJK JP" pitchFamily="34" charset="-120"/>
              </a:rPr>
              <a:t>・何を言っても許される、ではない</a:t>
            </a:r>
            <a:endParaRPr lang="en-US" sz="1900" dirty="0"/>
          </a:p>
          <a:p>
            <a:pPr algn="l" indent="0" marL="0">
              <a:lnSpc>
                <a:spcPct val="115000"/>
              </a:lnSpc>
              <a:buNone/>
            </a:pPr>
            <a:r>
              <a:rPr lang="en-US" sz="1900" dirty="0">
                <a:solidFill>
                  <a:srgbClr val="111827"/>
                </a:solidFill>
                <a:latin typeface="Noto Sans CJK JP" pitchFamily="34" charset="0"/>
                <a:ea typeface="Noto Sans CJK JP" pitchFamily="34" charset="-122"/>
                <a:cs typeface="Noto Sans CJK JP" pitchFamily="34" charset="-120"/>
              </a:rPr>
              <a:t>・厳しい指摘をしない、でもない</a:t>
            </a:r>
            <a:endParaRPr lang="en-US" sz="1900" dirty="0"/>
          </a:p>
          <a:p>
            <a:pPr algn="l" indent="0" marL="0">
              <a:lnSpc>
                <a:spcPct val="115000"/>
              </a:lnSpc>
              <a:buNone/>
            </a:pPr>
            <a:r>
              <a:rPr lang="en-US" sz="1900" dirty="0">
                <a:solidFill>
                  <a:srgbClr val="111827"/>
                </a:solidFill>
                <a:latin typeface="Noto Sans CJK JP" pitchFamily="34" charset="0"/>
                <a:ea typeface="Noto Sans CJK JP" pitchFamily="34" charset="-122"/>
                <a:cs typeface="Noto Sans CJK JP" pitchFamily="34" charset="-120"/>
              </a:rPr>
              <a:t>・責任を曖昧にする、でもない</a:t>
            </a:r>
            <a:endParaRPr lang="en-US" sz="1900" dirty="0"/>
          </a:p>
        </p:txBody>
      </p:sp>
      <p:sp>
        <p:nvSpPr>
          <p:cNvPr id="10" name="Text 7"/>
          <p:cNvSpPr/>
          <p:nvPr/>
        </p:nvSpPr>
        <p:spPr>
          <a:xfrm>
            <a:off x="713232" y="5230368"/>
            <a:ext cx="5166360" cy="320040"/>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B8944D"/>
                </a:solidFill>
                <a:latin typeface="Noto Sans CJK JP" pitchFamily="34" charset="0"/>
                <a:ea typeface="Noto Sans CJK JP" pitchFamily="34" charset="-122"/>
                <a:cs typeface="Noto Sans CJK JP" pitchFamily="34" charset="-120"/>
              </a:rPr>
              <a:t>心理的安全性 ＋ 説明責任 = 健全なコンプライアンス</a:t>
            </a:r>
            <a:endParaRPr lang="en-US" sz="1800" dirty="0"/>
          </a:p>
        </p:txBody>
      </p:sp>
      <p:sp>
        <p:nvSpPr>
          <p:cNvPr id="11" name="Text 8"/>
          <p:cNvSpPr/>
          <p:nvPr/>
        </p:nvSpPr>
        <p:spPr>
          <a:xfrm>
            <a:off x="731520" y="6291072"/>
            <a:ext cx="2743200" cy="182880"/>
          </a:xfrm>
          <a:prstGeom prst="rect">
            <a:avLst/>
          </a:prstGeom>
          <a:noFill/>
          <a:ln/>
        </p:spPr>
        <p:txBody>
          <a:bodyPr wrap="square" lIns="0" tIns="0" rIns="0" bIns="0" rtlCol="0" anchor="t">
            <a:normAutofit/>
          </a:bodyPr>
          <a:lstStyle/>
          <a:p>
            <a:pPr algn="l" indent="0" marL="0">
              <a:lnSpc>
                <a:spcPct val="110000"/>
              </a:lnSpc>
              <a:buNone/>
            </a:pPr>
            <a:r>
              <a:rPr lang="en-US" sz="850" dirty="0">
                <a:solidFill>
                  <a:srgbClr val="98A2B3"/>
                </a:solidFill>
                <a:latin typeface="Noto Sans CJK JP" pitchFamily="34" charset="0"/>
                <a:ea typeface="Noto Sans CJK JP" pitchFamily="34" charset="-122"/>
                <a:cs typeface="Noto Sans CJK JP" pitchFamily="34" charset="-120"/>
              </a:rPr>
              <a:t>参考：Edmondson, 1999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なぜコンプライアンス研修で扱うのか</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違反の多くは、公式報告の前に「違和感」として現れる</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04</a:t>
            </a:r>
            <a:endParaRPr lang="en-US" sz="800" dirty="0"/>
          </a:p>
        </p:txBody>
      </p:sp>
      <p:pic>
        <p:nvPicPr>
          <p:cNvPr id="5" name="Image 0" descr="/mnt/data/a_clean_3d_isometric_illustration_infographic_sc_batch_3.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261872"/>
            <a:ext cx="5303520" cy="384048"/>
          </a:xfrm>
          <a:prstGeom prst="rect">
            <a:avLst/>
          </a:prstGeom>
          <a:noFill/>
          <a:ln/>
        </p:spPr>
        <p:txBody>
          <a:bodyPr wrap="square" lIns="0" tIns="0" rIns="0" bIns="0" rtlCol="0" anchor="t">
            <a:normAutofit/>
          </a:bodyPr>
          <a:lstStyle/>
          <a:p>
            <a:pPr algn="l" indent="0" marL="0">
              <a:lnSpc>
                <a:spcPct val="110000"/>
              </a:lnSpc>
              <a:buNone/>
            </a:pPr>
            <a:r>
              <a:rPr lang="en-US" sz="2300" b="1" dirty="0">
                <a:solidFill>
                  <a:srgbClr val="1F2A44"/>
                </a:solidFill>
                <a:latin typeface="Noto Sans CJK JP" pitchFamily="34" charset="0"/>
                <a:ea typeface="Noto Sans CJK JP" pitchFamily="34" charset="-122"/>
                <a:cs typeface="Noto Sans CJK JP" pitchFamily="34" charset="-120"/>
              </a:rPr>
              <a:t>小さな違和感を、早い段階で扱えるか</a:t>
            </a:r>
            <a:endParaRPr lang="en-US" sz="2300" dirty="0"/>
          </a:p>
        </p:txBody>
      </p:sp>
      <p:sp>
        <p:nvSpPr>
          <p:cNvPr id="7" name="Text 4"/>
          <p:cNvSpPr/>
          <p:nvPr/>
        </p:nvSpPr>
        <p:spPr>
          <a:xfrm>
            <a:off x="713232" y="2084832"/>
            <a:ext cx="91440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B42318"/>
                </a:solidFill>
                <a:latin typeface="Noto Sans CJK JP" pitchFamily="34" charset="0"/>
                <a:ea typeface="Noto Sans CJK JP" pitchFamily="34" charset="-122"/>
                <a:cs typeface="Noto Sans CJK JP" pitchFamily="34" charset="-120"/>
              </a:rPr>
              <a:t>違和感</a:t>
            </a:r>
            <a:endParaRPr lang="en-US" sz="1700" dirty="0"/>
          </a:p>
        </p:txBody>
      </p:sp>
      <p:sp>
        <p:nvSpPr>
          <p:cNvPr id="8" name="Text 5"/>
          <p:cNvSpPr/>
          <p:nvPr/>
        </p:nvSpPr>
        <p:spPr>
          <a:xfrm>
            <a:off x="1664208" y="2093976"/>
            <a:ext cx="256032" cy="228600"/>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667085"/>
                </a:solidFill>
                <a:latin typeface="Noto Sans CJK JP" pitchFamily="34" charset="0"/>
                <a:ea typeface="Noto Sans CJK JP" pitchFamily="34" charset="-122"/>
                <a:cs typeface="Noto Sans CJK JP" pitchFamily="34" charset="-120"/>
              </a:rPr>
              <a:t>→</a:t>
            </a:r>
            <a:endParaRPr lang="en-US" sz="1600" dirty="0"/>
          </a:p>
        </p:txBody>
      </p:sp>
      <p:sp>
        <p:nvSpPr>
          <p:cNvPr id="9" name="Text 6"/>
          <p:cNvSpPr/>
          <p:nvPr/>
        </p:nvSpPr>
        <p:spPr>
          <a:xfrm>
            <a:off x="1993392" y="2084832"/>
            <a:ext cx="73152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相談</a:t>
            </a:r>
            <a:endParaRPr lang="en-US" sz="1700" dirty="0"/>
          </a:p>
        </p:txBody>
      </p:sp>
      <p:sp>
        <p:nvSpPr>
          <p:cNvPr id="10" name="Text 7"/>
          <p:cNvSpPr/>
          <p:nvPr/>
        </p:nvSpPr>
        <p:spPr>
          <a:xfrm>
            <a:off x="2788920" y="2093976"/>
            <a:ext cx="256032" cy="228600"/>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667085"/>
                </a:solidFill>
                <a:latin typeface="Noto Sans CJK JP" pitchFamily="34" charset="0"/>
                <a:ea typeface="Noto Sans CJK JP" pitchFamily="34" charset="-122"/>
                <a:cs typeface="Noto Sans CJK JP" pitchFamily="34" charset="-120"/>
              </a:rPr>
              <a:t>→</a:t>
            </a:r>
            <a:endParaRPr lang="en-US" sz="1600" dirty="0"/>
          </a:p>
        </p:txBody>
      </p:sp>
      <p:sp>
        <p:nvSpPr>
          <p:cNvPr id="11" name="Text 8"/>
          <p:cNvSpPr/>
          <p:nvPr/>
        </p:nvSpPr>
        <p:spPr>
          <a:xfrm>
            <a:off x="3108960" y="2084832"/>
            <a:ext cx="73152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確認</a:t>
            </a:r>
            <a:endParaRPr lang="en-US" sz="1700" dirty="0"/>
          </a:p>
        </p:txBody>
      </p:sp>
      <p:sp>
        <p:nvSpPr>
          <p:cNvPr id="12" name="Text 9"/>
          <p:cNvSpPr/>
          <p:nvPr/>
        </p:nvSpPr>
        <p:spPr>
          <a:xfrm>
            <a:off x="3886200" y="2093976"/>
            <a:ext cx="256032" cy="228600"/>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667085"/>
                </a:solidFill>
                <a:latin typeface="Noto Sans CJK JP" pitchFamily="34" charset="0"/>
                <a:ea typeface="Noto Sans CJK JP" pitchFamily="34" charset="-122"/>
                <a:cs typeface="Noto Sans CJK JP" pitchFamily="34" charset="-120"/>
              </a:rPr>
              <a:t>→</a:t>
            </a:r>
            <a:endParaRPr lang="en-US" sz="1600" dirty="0"/>
          </a:p>
        </p:txBody>
      </p:sp>
      <p:sp>
        <p:nvSpPr>
          <p:cNvPr id="13" name="Text 10"/>
          <p:cNvSpPr/>
          <p:nvPr/>
        </p:nvSpPr>
        <p:spPr>
          <a:xfrm>
            <a:off x="4187952" y="2084832"/>
            <a:ext cx="73152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是正</a:t>
            </a:r>
            <a:endParaRPr lang="en-US" sz="1700" dirty="0"/>
          </a:p>
        </p:txBody>
      </p:sp>
      <p:sp>
        <p:nvSpPr>
          <p:cNvPr id="14" name="Text 11"/>
          <p:cNvSpPr/>
          <p:nvPr/>
        </p:nvSpPr>
        <p:spPr>
          <a:xfrm>
            <a:off x="4983480" y="2093976"/>
            <a:ext cx="256032" cy="228600"/>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667085"/>
                </a:solidFill>
                <a:latin typeface="Noto Sans CJK JP" pitchFamily="34" charset="0"/>
                <a:ea typeface="Noto Sans CJK JP" pitchFamily="34" charset="-122"/>
                <a:cs typeface="Noto Sans CJK JP" pitchFamily="34" charset="-120"/>
              </a:rPr>
              <a:t>→</a:t>
            </a:r>
            <a:endParaRPr lang="en-US" sz="1600" dirty="0"/>
          </a:p>
        </p:txBody>
      </p:sp>
      <p:sp>
        <p:nvSpPr>
          <p:cNvPr id="15" name="Text 12"/>
          <p:cNvSpPr/>
          <p:nvPr/>
        </p:nvSpPr>
        <p:spPr>
          <a:xfrm>
            <a:off x="5285232" y="2084832"/>
            <a:ext cx="100584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2A44"/>
                </a:solidFill>
                <a:latin typeface="Noto Sans CJK JP" pitchFamily="34" charset="0"/>
                <a:ea typeface="Noto Sans CJK JP" pitchFamily="34" charset="-122"/>
                <a:cs typeface="Noto Sans CJK JP" pitchFamily="34" charset="-120"/>
              </a:rPr>
              <a:t>再発防止</a:t>
            </a:r>
            <a:endParaRPr lang="en-US" sz="1700" dirty="0"/>
          </a:p>
        </p:txBody>
      </p:sp>
      <p:sp>
        <p:nvSpPr>
          <p:cNvPr id="16" name="Text 13"/>
          <p:cNvSpPr/>
          <p:nvPr/>
        </p:nvSpPr>
        <p:spPr>
          <a:xfrm>
            <a:off x="713232" y="2971800"/>
            <a:ext cx="4846320" cy="566928"/>
          </a:xfrm>
          <a:prstGeom prst="rect">
            <a:avLst/>
          </a:prstGeom>
          <a:noFill/>
          <a:ln/>
        </p:spPr>
        <p:txBody>
          <a:bodyPr wrap="square" lIns="0" tIns="0" rIns="0" bIns="0" rtlCol="0" anchor="t">
            <a:normAutofit/>
          </a:bodyPr>
          <a:lstStyle/>
          <a:p>
            <a:pPr algn="l" indent="0" marL="0">
              <a:lnSpc>
                <a:spcPct val="103000"/>
              </a:lnSpc>
              <a:buNone/>
            </a:pPr>
            <a:r>
              <a:rPr lang="en-US" sz="2400" b="1" dirty="0">
                <a:solidFill>
                  <a:srgbClr val="1F2A44"/>
                </a:solidFill>
                <a:latin typeface="Noto Sans CJK JP" pitchFamily="34" charset="0"/>
                <a:ea typeface="Noto Sans CJK JP" pitchFamily="34" charset="-122"/>
                <a:cs typeface="Noto Sans CJK JP" pitchFamily="34" charset="-120"/>
              </a:rPr>
              <a:t>心理的安全性が低いと、</a:t>
            </a:r>
            <a:endParaRPr lang="en-US" sz="2400" dirty="0"/>
          </a:p>
          <a:p>
            <a:pPr algn="l" indent="0" marL="0">
              <a:lnSpc>
                <a:spcPct val="103000"/>
              </a:lnSpc>
              <a:buNone/>
            </a:pPr>
            <a:r>
              <a:rPr lang="en-US" sz="2400" b="1" dirty="0">
                <a:solidFill>
                  <a:srgbClr val="1F2A44"/>
                </a:solidFill>
                <a:latin typeface="Noto Sans CJK JP" pitchFamily="34" charset="0"/>
                <a:ea typeface="Noto Sans CJK JP" pitchFamily="34" charset="-122"/>
                <a:cs typeface="Noto Sans CJK JP" pitchFamily="34" charset="-120"/>
              </a:rPr>
              <a:t>最初の「相談」が止まる。</a:t>
            </a:r>
            <a:endParaRPr lang="en-US" sz="2400" dirty="0"/>
          </a:p>
        </p:txBody>
      </p:sp>
      <p:sp>
        <p:nvSpPr>
          <p:cNvPr id="17" name="Text 14"/>
          <p:cNvSpPr/>
          <p:nvPr/>
        </p:nvSpPr>
        <p:spPr>
          <a:xfrm>
            <a:off x="731520" y="4315968"/>
            <a:ext cx="5303520" cy="585216"/>
          </a:xfrm>
          <a:prstGeom prst="rect">
            <a:avLst/>
          </a:prstGeom>
          <a:noFill/>
          <a:ln/>
        </p:spPr>
        <p:txBody>
          <a:bodyPr wrap="square" lIns="0" tIns="0" rIns="0" bIns="0" rtlCol="0" anchor="t">
            <a:normAutofit/>
          </a:bodyPr>
          <a:lstStyle/>
          <a:p>
            <a:pPr algn="l" indent="0" marL="0">
              <a:lnSpc>
                <a:spcPct val="110000"/>
              </a:lnSpc>
              <a:buNone/>
            </a:pPr>
            <a:r>
              <a:rPr lang="en-US" sz="1700" dirty="0">
                <a:solidFill>
                  <a:srgbClr val="667085"/>
                </a:solidFill>
                <a:latin typeface="Noto Sans CJK JP" pitchFamily="34" charset="0"/>
                <a:ea typeface="Noto Sans CJK JP" pitchFamily="34" charset="-122"/>
                <a:cs typeface="Noto Sans CJK JP" pitchFamily="34" charset="-120"/>
              </a:rPr>
              <a:t>コンプライアンス部門・人事・法務・内部通報窓口は、</a:t>
            </a:r>
            <a:endParaRPr lang="en-US" sz="1700" dirty="0"/>
          </a:p>
          <a:p>
            <a:pPr algn="l" indent="0" marL="0">
              <a:lnSpc>
                <a:spcPct val="110000"/>
              </a:lnSpc>
              <a:buNone/>
            </a:pPr>
            <a:r>
              <a:rPr lang="en-US" sz="1700" dirty="0">
                <a:solidFill>
                  <a:srgbClr val="667085"/>
                </a:solidFill>
                <a:latin typeface="Noto Sans CJK JP" pitchFamily="34" charset="0"/>
                <a:ea typeface="Noto Sans CJK JP" pitchFamily="34" charset="-122"/>
                <a:cs typeface="Noto Sans CJK JP" pitchFamily="34" charset="-120"/>
              </a:rPr>
              <a:t>最後の手段ではなく、早期相談の選択肢です。</a:t>
            </a:r>
            <a:endParaRPr lang="en-US" sz="1700" dirty="0"/>
          </a:p>
        </p:txBody>
      </p:sp>
      <p:sp>
        <p:nvSpPr>
          <p:cNvPr id="18" name="Text 15"/>
          <p:cNvSpPr/>
          <p:nvPr/>
        </p:nvSpPr>
        <p:spPr>
          <a:xfrm>
            <a:off x="731520" y="6291072"/>
            <a:ext cx="5486400" cy="182880"/>
          </a:xfrm>
          <a:prstGeom prst="rect">
            <a:avLst/>
          </a:prstGeom>
          <a:noFill/>
          <a:ln/>
        </p:spPr>
        <p:txBody>
          <a:bodyPr wrap="square" lIns="0" tIns="0" rIns="0" bIns="0" rtlCol="0" anchor="t">
            <a:normAutofit/>
          </a:bodyPr>
          <a:lstStyle/>
          <a:p>
            <a:pPr algn="l" indent="0" marL="0">
              <a:lnSpc>
                <a:spcPct val="110000"/>
              </a:lnSpc>
              <a:buNone/>
            </a:pPr>
            <a:r>
              <a:rPr lang="en-US" sz="820" dirty="0">
                <a:solidFill>
                  <a:srgbClr val="98A2B3"/>
                </a:solidFill>
                <a:latin typeface="Noto Sans CJK JP" pitchFamily="34" charset="0"/>
                <a:ea typeface="Noto Sans CJK JP" pitchFamily="34" charset="-122"/>
                <a:cs typeface="Noto Sans CJK JP" pitchFamily="34" charset="-120"/>
              </a:rPr>
              <a:t>参考：消費者庁「公益通報者保護制度」／厚生労働省「ハラスメント防止」</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沈黙を生む4つの恐れ</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人は「正しいこと」でも、損をしそうなら言いにくい</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05</a:t>
            </a:r>
            <a:endParaRPr lang="en-US" sz="800" dirty="0"/>
          </a:p>
        </p:txBody>
      </p:sp>
      <p:pic>
        <p:nvPicPr>
          <p:cNvPr id="5" name="Image 0" descr="/mnt/data/a_realistic_photo_of_a_modern_corporate_meeting_sc_batch_2.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371600"/>
            <a:ext cx="2194560" cy="292608"/>
          </a:xfrm>
          <a:prstGeom prst="rect">
            <a:avLst/>
          </a:prstGeom>
          <a:noFill/>
          <a:ln/>
        </p:spPr>
        <p:txBody>
          <a:bodyPr wrap="square" lIns="0" tIns="0" rIns="0" bIns="0" rtlCol="0" anchor="t">
            <a:normAutofit/>
          </a:bodyPr>
          <a:lstStyle/>
          <a:p>
            <a:pPr algn="l" indent="0" marL="0">
              <a:lnSpc>
                <a:spcPct val="110000"/>
              </a:lnSpc>
              <a:buNone/>
            </a:pPr>
            <a:r>
              <a:rPr lang="en-US" sz="2000" b="1" dirty="0">
                <a:solidFill>
                  <a:srgbClr val="1F2A44"/>
                </a:solidFill>
                <a:latin typeface="Noto Sans CJK JP" pitchFamily="34" charset="0"/>
                <a:ea typeface="Noto Sans CJK JP" pitchFamily="34" charset="-122"/>
                <a:cs typeface="Noto Sans CJK JP" pitchFamily="34" charset="-120"/>
              </a:rPr>
              <a:t>無知に見える</a:t>
            </a:r>
            <a:endParaRPr lang="en-US" sz="2000" dirty="0"/>
          </a:p>
        </p:txBody>
      </p:sp>
      <p:sp>
        <p:nvSpPr>
          <p:cNvPr id="7" name="Text 4"/>
          <p:cNvSpPr/>
          <p:nvPr/>
        </p:nvSpPr>
        <p:spPr>
          <a:xfrm>
            <a:off x="3063240" y="1389888"/>
            <a:ext cx="2926080" cy="256032"/>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「そんなことも知らないの？」</a:t>
            </a:r>
            <a:endParaRPr lang="en-US" sz="1550" dirty="0"/>
          </a:p>
        </p:txBody>
      </p:sp>
      <p:sp>
        <p:nvSpPr>
          <p:cNvPr id="8" name="Text 5"/>
          <p:cNvSpPr/>
          <p:nvPr/>
        </p:nvSpPr>
        <p:spPr>
          <a:xfrm>
            <a:off x="713232" y="2240280"/>
            <a:ext cx="2194560" cy="292608"/>
          </a:xfrm>
          <a:prstGeom prst="rect">
            <a:avLst/>
          </a:prstGeom>
          <a:noFill/>
          <a:ln/>
        </p:spPr>
        <p:txBody>
          <a:bodyPr wrap="square" lIns="0" tIns="0" rIns="0" bIns="0" rtlCol="0" anchor="t">
            <a:normAutofit/>
          </a:bodyPr>
          <a:lstStyle/>
          <a:p>
            <a:pPr algn="l" indent="0" marL="0">
              <a:lnSpc>
                <a:spcPct val="110000"/>
              </a:lnSpc>
              <a:buNone/>
            </a:pPr>
            <a:r>
              <a:rPr lang="en-US" sz="2000" b="1" dirty="0">
                <a:solidFill>
                  <a:srgbClr val="1F2A44"/>
                </a:solidFill>
                <a:latin typeface="Noto Sans CJK JP" pitchFamily="34" charset="0"/>
                <a:ea typeface="Noto Sans CJK JP" pitchFamily="34" charset="-122"/>
                <a:cs typeface="Noto Sans CJK JP" pitchFamily="34" charset="-120"/>
              </a:rPr>
              <a:t>無能に見える</a:t>
            </a:r>
            <a:endParaRPr lang="en-US" sz="2000" dirty="0"/>
          </a:p>
        </p:txBody>
      </p:sp>
      <p:sp>
        <p:nvSpPr>
          <p:cNvPr id="9" name="Text 6"/>
          <p:cNvSpPr/>
          <p:nvPr/>
        </p:nvSpPr>
        <p:spPr>
          <a:xfrm>
            <a:off x="3063240" y="2258568"/>
            <a:ext cx="2926080" cy="256032"/>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「ミスを認めたら評価が下がる」</a:t>
            </a:r>
            <a:endParaRPr lang="en-US" sz="1550" dirty="0"/>
          </a:p>
        </p:txBody>
      </p:sp>
      <p:sp>
        <p:nvSpPr>
          <p:cNvPr id="10" name="Text 7"/>
          <p:cNvSpPr/>
          <p:nvPr/>
        </p:nvSpPr>
        <p:spPr>
          <a:xfrm>
            <a:off x="713232" y="3108960"/>
            <a:ext cx="2194560" cy="292608"/>
          </a:xfrm>
          <a:prstGeom prst="rect">
            <a:avLst/>
          </a:prstGeom>
          <a:noFill/>
          <a:ln/>
        </p:spPr>
        <p:txBody>
          <a:bodyPr wrap="square" lIns="0" tIns="0" rIns="0" bIns="0" rtlCol="0" anchor="t">
            <a:normAutofit/>
          </a:bodyPr>
          <a:lstStyle/>
          <a:p>
            <a:pPr algn="l" indent="0" marL="0">
              <a:lnSpc>
                <a:spcPct val="110000"/>
              </a:lnSpc>
              <a:buNone/>
            </a:pPr>
            <a:r>
              <a:rPr lang="en-US" sz="2000" b="1" dirty="0">
                <a:solidFill>
                  <a:srgbClr val="1F2A44"/>
                </a:solidFill>
                <a:latin typeface="Noto Sans CJK JP" pitchFamily="34" charset="0"/>
                <a:ea typeface="Noto Sans CJK JP" pitchFamily="34" charset="-122"/>
                <a:cs typeface="Noto Sans CJK JP" pitchFamily="34" charset="-120"/>
              </a:rPr>
              <a:t>否定的に見える</a:t>
            </a:r>
            <a:endParaRPr lang="en-US" sz="2000" dirty="0"/>
          </a:p>
        </p:txBody>
      </p:sp>
      <p:sp>
        <p:nvSpPr>
          <p:cNvPr id="11" name="Text 8"/>
          <p:cNvSpPr/>
          <p:nvPr/>
        </p:nvSpPr>
        <p:spPr>
          <a:xfrm>
            <a:off x="3063240" y="3127248"/>
            <a:ext cx="2926080" cy="256032"/>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「反対すると空気を壊す」</a:t>
            </a:r>
            <a:endParaRPr lang="en-US" sz="1550" dirty="0"/>
          </a:p>
        </p:txBody>
      </p:sp>
      <p:sp>
        <p:nvSpPr>
          <p:cNvPr id="12" name="Text 9"/>
          <p:cNvSpPr/>
          <p:nvPr/>
        </p:nvSpPr>
        <p:spPr>
          <a:xfrm>
            <a:off x="713232" y="3977640"/>
            <a:ext cx="2194560" cy="292608"/>
          </a:xfrm>
          <a:prstGeom prst="rect">
            <a:avLst/>
          </a:prstGeom>
          <a:noFill/>
          <a:ln/>
        </p:spPr>
        <p:txBody>
          <a:bodyPr wrap="square" lIns="0" tIns="0" rIns="0" bIns="0" rtlCol="0" anchor="t">
            <a:normAutofit/>
          </a:bodyPr>
          <a:lstStyle/>
          <a:p>
            <a:pPr algn="l" indent="0" marL="0">
              <a:lnSpc>
                <a:spcPct val="110000"/>
              </a:lnSpc>
              <a:buNone/>
            </a:pPr>
            <a:r>
              <a:rPr lang="en-US" sz="2000" b="1" dirty="0">
                <a:solidFill>
                  <a:srgbClr val="1F2A44"/>
                </a:solidFill>
                <a:latin typeface="Noto Sans CJK JP" pitchFamily="34" charset="0"/>
                <a:ea typeface="Noto Sans CJK JP" pitchFamily="34" charset="-122"/>
                <a:cs typeface="Noto Sans CJK JP" pitchFamily="34" charset="-120"/>
              </a:rPr>
              <a:t>面倒な人に見える</a:t>
            </a:r>
            <a:endParaRPr lang="en-US" sz="2000" dirty="0"/>
          </a:p>
        </p:txBody>
      </p:sp>
      <p:sp>
        <p:nvSpPr>
          <p:cNvPr id="13" name="Text 10"/>
          <p:cNvSpPr/>
          <p:nvPr/>
        </p:nvSpPr>
        <p:spPr>
          <a:xfrm>
            <a:off x="3063240" y="3995928"/>
            <a:ext cx="2926080" cy="256032"/>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「余計な問題を増やす人と思われる」</a:t>
            </a:r>
            <a:endParaRPr lang="en-US" sz="1550" dirty="0"/>
          </a:p>
        </p:txBody>
      </p:sp>
      <p:sp>
        <p:nvSpPr>
          <p:cNvPr id="14" name="Text 11"/>
          <p:cNvSpPr/>
          <p:nvPr/>
        </p:nvSpPr>
        <p:spPr>
          <a:xfrm>
            <a:off x="713232" y="5285232"/>
            <a:ext cx="548640" cy="256032"/>
          </a:xfrm>
          <a:prstGeom prst="rect">
            <a:avLst/>
          </a:prstGeom>
          <a:noFill/>
          <a:ln/>
        </p:spPr>
        <p:txBody>
          <a:bodyPr wrap="square" lIns="0" tIns="0" rIns="0" bIns="0" rtlCol="0" anchor="t">
            <a:normAutofit/>
          </a:bodyPr>
          <a:lstStyle/>
          <a:p>
            <a:pPr algn="l" indent="0" marL="0">
              <a:lnSpc>
                <a:spcPct val="110000"/>
              </a:lnSpc>
              <a:buNone/>
            </a:pPr>
            <a:r>
              <a:rPr lang="en-US" sz="1600" b="1" dirty="0">
                <a:solidFill>
                  <a:srgbClr val="1F8F8A"/>
                </a:solidFill>
                <a:latin typeface="Noto Sans CJK JP" pitchFamily="34" charset="0"/>
                <a:ea typeface="Noto Sans CJK JP" pitchFamily="34" charset="-122"/>
                <a:cs typeface="Noto Sans CJK JP" pitchFamily="34" charset="-120"/>
              </a:rPr>
              <a:t>問い</a:t>
            </a:r>
            <a:endParaRPr lang="en-US" sz="1600" dirty="0"/>
          </a:p>
        </p:txBody>
      </p:sp>
      <p:sp>
        <p:nvSpPr>
          <p:cNvPr id="15" name="Text 12"/>
          <p:cNvSpPr/>
          <p:nvPr/>
        </p:nvSpPr>
        <p:spPr>
          <a:xfrm>
            <a:off x="1353312" y="5285232"/>
            <a:ext cx="4937760" cy="274320"/>
          </a:xfrm>
          <a:prstGeom prst="rect">
            <a:avLst/>
          </a:prstGeom>
          <a:noFill/>
          <a:ln/>
        </p:spPr>
        <p:txBody>
          <a:bodyPr wrap="square" lIns="0" tIns="0" rIns="0" bIns="0" rtlCol="0" anchor="t">
            <a:normAutofit/>
          </a:bodyPr>
          <a:lstStyle/>
          <a:p>
            <a:pPr algn="l" indent="0" marL="0">
              <a:lnSpc>
                <a:spcPct val="110000"/>
              </a:lnSpc>
              <a:buNone/>
            </a:pPr>
            <a:r>
              <a:rPr lang="en-US" sz="1750" b="1" dirty="0">
                <a:solidFill>
                  <a:srgbClr val="1F2A44"/>
                </a:solidFill>
                <a:latin typeface="Noto Sans CJK JP" pitchFamily="34" charset="0"/>
                <a:ea typeface="Noto Sans CJK JP" pitchFamily="34" charset="-122"/>
                <a:cs typeface="Noto Sans CJK JP" pitchFamily="34" charset="-120"/>
              </a:rPr>
              <a:t>自分のチームでは、どの恐れがいちばん強そうか？</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聞く側の3行動</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発言者の勇気より、周囲の反応を設計する</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06</a:t>
            </a:r>
            <a:endParaRPr lang="en-US" sz="800" dirty="0"/>
          </a:p>
        </p:txBody>
      </p:sp>
      <p:pic>
        <p:nvPicPr>
          <p:cNvPr id="5" name="Image 0" descr="/mnt/data/a_bright_modern_office_meeting_room_scene_a_wide_batch_1.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353312"/>
            <a:ext cx="1417320" cy="320040"/>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① 止める</a:t>
            </a:r>
            <a:endParaRPr lang="en-US" sz="2200" dirty="0"/>
          </a:p>
        </p:txBody>
      </p:sp>
      <p:sp>
        <p:nvSpPr>
          <p:cNvPr id="7" name="Text 4"/>
          <p:cNvSpPr/>
          <p:nvPr/>
        </p:nvSpPr>
        <p:spPr>
          <a:xfrm>
            <a:off x="841248" y="1783080"/>
            <a:ext cx="4572000" cy="502920"/>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11827"/>
                </a:solidFill>
                <a:latin typeface="Noto Sans CJK JP" pitchFamily="34" charset="0"/>
                <a:ea typeface="Noto Sans CJK JP" pitchFamily="34" charset="-122"/>
                <a:cs typeface="Noto Sans CJK JP" pitchFamily="34" charset="-120"/>
              </a:rPr>
              <a:t>「今の点、確認しましょう」</a:t>
            </a:r>
            <a:endParaRPr lang="en-US" sz="1700" dirty="0"/>
          </a:p>
          <a:p>
            <a:pPr algn="l" indent="0" marL="0">
              <a:lnSpc>
                <a:spcPct val="112000"/>
              </a:lnSpc>
              <a:buNone/>
            </a:pPr>
            <a:r>
              <a:rPr lang="en-US" sz="1700" dirty="0">
                <a:solidFill>
                  <a:srgbClr val="111827"/>
                </a:solidFill>
                <a:latin typeface="Noto Sans CJK JP" pitchFamily="34" charset="0"/>
                <a:ea typeface="Noto Sans CJK JP" pitchFamily="34" charset="-122"/>
                <a:cs typeface="Noto Sans CJK JP" pitchFamily="34" charset="-120"/>
              </a:rPr>
              <a:t>「事実と推測を分けましょう」</a:t>
            </a:r>
            <a:endParaRPr lang="en-US" sz="1700" dirty="0"/>
          </a:p>
        </p:txBody>
      </p:sp>
      <p:sp>
        <p:nvSpPr>
          <p:cNvPr id="8" name="Text 5"/>
          <p:cNvSpPr/>
          <p:nvPr/>
        </p:nvSpPr>
        <p:spPr>
          <a:xfrm>
            <a:off x="713232" y="2788920"/>
            <a:ext cx="1417320" cy="320040"/>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② 訊く</a:t>
            </a:r>
            <a:endParaRPr lang="en-US" sz="2200" dirty="0"/>
          </a:p>
        </p:txBody>
      </p:sp>
      <p:sp>
        <p:nvSpPr>
          <p:cNvPr id="9" name="Text 6"/>
          <p:cNvSpPr/>
          <p:nvPr/>
        </p:nvSpPr>
        <p:spPr>
          <a:xfrm>
            <a:off x="841248" y="3218688"/>
            <a:ext cx="4572000" cy="502920"/>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11827"/>
                </a:solidFill>
                <a:latin typeface="Noto Sans CJK JP" pitchFamily="34" charset="0"/>
                <a:ea typeface="Noto Sans CJK JP" pitchFamily="34" charset="-122"/>
                <a:cs typeface="Noto Sans CJK JP" pitchFamily="34" charset="-120"/>
              </a:rPr>
              <a:t>「どこに違和感がありますか」</a:t>
            </a:r>
            <a:endParaRPr lang="en-US" sz="1700" dirty="0"/>
          </a:p>
          <a:p>
            <a:pPr algn="l" indent="0" marL="0">
              <a:lnSpc>
                <a:spcPct val="112000"/>
              </a:lnSpc>
              <a:buNone/>
            </a:pPr>
            <a:r>
              <a:rPr lang="en-US" sz="1700" dirty="0">
                <a:solidFill>
                  <a:srgbClr val="111827"/>
                </a:solidFill>
                <a:latin typeface="Noto Sans CJK JP" pitchFamily="34" charset="0"/>
                <a:ea typeface="Noto Sans CJK JP" pitchFamily="34" charset="-122"/>
                <a:cs typeface="Noto Sans CJK JP" pitchFamily="34" charset="-120"/>
              </a:rPr>
              <a:t>「影響を受ける人は誰ですか」</a:t>
            </a:r>
            <a:endParaRPr lang="en-US" sz="1700" dirty="0"/>
          </a:p>
        </p:txBody>
      </p:sp>
      <p:sp>
        <p:nvSpPr>
          <p:cNvPr id="10" name="Text 7"/>
          <p:cNvSpPr/>
          <p:nvPr/>
        </p:nvSpPr>
        <p:spPr>
          <a:xfrm>
            <a:off x="713232" y="4224528"/>
            <a:ext cx="1572768" cy="320040"/>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③ つなぐ</a:t>
            </a:r>
            <a:endParaRPr lang="en-US" sz="2200" dirty="0"/>
          </a:p>
        </p:txBody>
      </p:sp>
      <p:sp>
        <p:nvSpPr>
          <p:cNvPr id="11" name="Text 8"/>
          <p:cNvSpPr/>
          <p:nvPr/>
        </p:nvSpPr>
        <p:spPr>
          <a:xfrm>
            <a:off x="841248" y="4654296"/>
            <a:ext cx="4572000" cy="502920"/>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11827"/>
                </a:solidFill>
                <a:latin typeface="Noto Sans CJK JP" pitchFamily="34" charset="0"/>
                <a:ea typeface="Noto Sans CJK JP" pitchFamily="34" charset="-122"/>
                <a:cs typeface="Noto Sans CJK JP" pitchFamily="34" charset="-120"/>
              </a:rPr>
              <a:t>「記録して、確認先に相談しましょう」</a:t>
            </a:r>
            <a:endParaRPr lang="en-US" sz="1700" dirty="0"/>
          </a:p>
          <a:p>
            <a:pPr algn="l" indent="0" marL="0">
              <a:lnSpc>
                <a:spcPct val="112000"/>
              </a:lnSpc>
              <a:buNone/>
            </a:pPr>
            <a:r>
              <a:rPr lang="en-US" sz="1700" dirty="0">
                <a:solidFill>
                  <a:srgbClr val="111827"/>
                </a:solidFill>
                <a:latin typeface="Noto Sans CJK JP" pitchFamily="34" charset="0"/>
                <a:ea typeface="Noto Sans CJK JP" pitchFamily="34" charset="-122"/>
                <a:cs typeface="Noto Sans CJK JP" pitchFamily="34" charset="-120"/>
              </a:rPr>
              <a:t>「必要なら窓口を使いましょう」</a:t>
            </a:r>
            <a:endParaRPr lang="en-US" sz="1700" dirty="0"/>
          </a:p>
        </p:txBody>
      </p:sp>
      <p:sp>
        <p:nvSpPr>
          <p:cNvPr id="12" name="Text 9"/>
          <p:cNvSpPr/>
          <p:nvPr/>
        </p:nvSpPr>
        <p:spPr>
          <a:xfrm>
            <a:off x="713232" y="5888736"/>
            <a:ext cx="5120640" cy="292608"/>
          </a:xfrm>
          <a:prstGeom prst="rect">
            <a:avLst/>
          </a:prstGeom>
          <a:noFill/>
          <a:ln/>
        </p:spPr>
        <p:txBody>
          <a:bodyPr wrap="square" lIns="0" tIns="0" rIns="0" bIns="0" rtlCol="0" anchor="t">
            <a:normAutofit/>
          </a:bodyPr>
          <a:lstStyle/>
          <a:p>
            <a:pPr algn="l" indent="0" marL="0">
              <a:lnSpc>
                <a:spcPct val="110000"/>
              </a:lnSpc>
              <a:buNone/>
            </a:pPr>
            <a:r>
              <a:rPr lang="en-US" sz="1750" b="1" dirty="0">
                <a:solidFill>
                  <a:srgbClr val="B8944D"/>
                </a:solidFill>
                <a:latin typeface="Noto Sans CJK JP" pitchFamily="34" charset="0"/>
                <a:ea typeface="Noto Sans CJK JP" pitchFamily="34" charset="-122"/>
                <a:cs typeface="Noto Sans CJK JP" pitchFamily="34" charset="-120"/>
              </a:rPr>
              <a:t>最初の反応で、次に声が出るかが決まる。</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ケース討議：数字を先に合わせて</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結論を急がず、違和感・恐れ・次の行動を分ける</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07</a:t>
            </a:r>
            <a:endParaRPr lang="en-US" sz="800" dirty="0"/>
          </a:p>
        </p:txBody>
      </p:sp>
      <p:pic>
        <p:nvPicPr>
          <p:cNvPr id="5" name="Image 0" descr="/mnt/data/a_professional_office_meeting_scene_wide_and_soft_batch_1.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261872"/>
            <a:ext cx="658368"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状況</a:t>
            </a:r>
            <a:endParaRPr lang="en-US" sz="1700" dirty="0"/>
          </a:p>
        </p:txBody>
      </p:sp>
      <p:sp>
        <p:nvSpPr>
          <p:cNvPr id="7" name="Text 4"/>
          <p:cNvSpPr/>
          <p:nvPr/>
        </p:nvSpPr>
        <p:spPr>
          <a:xfrm>
            <a:off x="713232" y="1664208"/>
            <a:ext cx="5394960" cy="1170432"/>
          </a:xfrm>
          <a:prstGeom prst="rect">
            <a:avLst/>
          </a:prstGeom>
          <a:noFill/>
          <a:ln/>
        </p:spPr>
        <p:txBody>
          <a:bodyPr wrap="square" lIns="0" tIns="0" rIns="0" bIns="0" rtlCol="0" anchor="t">
            <a:normAutofit/>
          </a:bodyPr>
          <a:lstStyle/>
          <a:p>
            <a:pPr algn="l" indent="0" marL="0">
              <a:lnSpc>
                <a:spcPct val="112000"/>
              </a:lnSpc>
              <a:buNone/>
            </a:pPr>
            <a:r>
              <a:rPr lang="en-US" sz="1750" dirty="0">
                <a:solidFill>
                  <a:srgbClr val="111827"/>
                </a:solidFill>
                <a:latin typeface="Noto Sans CJK JP" pitchFamily="34" charset="0"/>
                <a:ea typeface="Noto Sans CJK JP" pitchFamily="34" charset="-122"/>
                <a:cs typeface="Noto Sans CJK JP" pitchFamily="34" charset="-120"/>
              </a:rPr>
              <a:t>月次報告の提出前日。リーダーが、</a:t>
            </a:r>
            <a:endParaRPr lang="en-US" sz="1750" dirty="0"/>
          </a:p>
          <a:p>
            <a:pPr algn="l" indent="0" marL="0">
              <a:lnSpc>
                <a:spcPct val="112000"/>
              </a:lnSpc>
              <a:buNone/>
            </a:pPr>
            <a:r>
              <a:rPr lang="en-US" sz="1750" dirty="0">
                <a:solidFill>
                  <a:srgbClr val="111827"/>
                </a:solidFill>
                <a:latin typeface="Noto Sans CJK JP" pitchFamily="34" charset="0"/>
                <a:ea typeface="Noto Sans CJK JP" pitchFamily="34" charset="-122"/>
                <a:cs typeface="Noto Sans CJK JP" pitchFamily="34" charset="-120"/>
              </a:rPr>
              <a:t>「細かい不一致は来月調整しよう。今回は数字を先に合わせて」</a:t>
            </a:r>
            <a:endParaRPr lang="en-US" sz="1750" dirty="0"/>
          </a:p>
          <a:p>
            <a:pPr algn="l" indent="0" marL="0">
              <a:lnSpc>
                <a:spcPct val="112000"/>
              </a:lnSpc>
              <a:buNone/>
            </a:pPr>
            <a:r>
              <a:rPr lang="en-US" sz="1750" dirty="0">
                <a:solidFill>
                  <a:srgbClr val="111827"/>
                </a:solidFill>
                <a:latin typeface="Noto Sans CJK JP" pitchFamily="34" charset="0"/>
                <a:ea typeface="Noto Sans CJK JP" pitchFamily="34" charset="-122"/>
                <a:cs typeface="Noto Sans CJK JP" pitchFamily="34" charset="-120"/>
              </a:rPr>
              <a:t>と言った。Aさんは違和感があるが、周囲は黙っている。</a:t>
            </a:r>
            <a:endParaRPr lang="en-US" sz="1750" dirty="0"/>
          </a:p>
        </p:txBody>
      </p:sp>
      <p:sp>
        <p:nvSpPr>
          <p:cNvPr id="8" name="Text 5"/>
          <p:cNvSpPr/>
          <p:nvPr/>
        </p:nvSpPr>
        <p:spPr>
          <a:xfrm>
            <a:off x="713232" y="3401568"/>
            <a:ext cx="1188720" cy="256032"/>
          </a:xfrm>
          <a:prstGeom prst="rect">
            <a:avLst/>
          </a:prstGeom>
          <a:noFill/>
          <a:ln/>
        </p:spPr>
        <p:txBody>
          <a:bodyPr wrap="square" lIns="0" tIns="0" rIns="0" bIns="0" rtlCol="0" anchor="t">
            <a:normAutofit/>
          </a:bodyPr>
          <a:lstStyle/>
          <a:p>
            <a:pPr algn="l" indent="0" marL="0">
              <a:lnSpc>
                <a:spcPct val="110000"/>
              </a:lnSpc>
              <a:buNone/>
            </a:pPr>
            <a:r>
              <a:rPr lang="en-US" sz="1700" b="1" dirty="0">
                <a:solidFill>
                  <a:srgbClr val="1F8F8A"/>
                </a:solidFill>
                <a:latin typeface="Noto Sans CJK JP" pitchFamily="34" charset="0"/>
                <a:ea typeface="Noto Sans CJK JP" pitchFamily="34" charset="-122"/>
                <a:cs typeface="Noto Sans CJK JP" pitchFamily="34" charset="-120"/>
              </a:rPr>
              <a:t>討議の問い</a:t>
            </a:r>
            <a:endParaRPr lang="en-US" sz="1700" dirty="0"/>
          </a:p>
        </p:txBody>
      </p:sp>
      <p:sp>
        <p:nvSpPr>
          <p:cNvPr id="9" name="Text 6"/>
          <p:cNvSpPr/>
          <p:nvPr/>
        </p:nvSpPr>
        <p:spPr>
          <a:xfrm>
            <a:off x="841248" y="3794760"/>
            <a:ext cx="4983480" cy="960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F2A44"/>
                </a:solidFill>
                <a:latin typeface="Noto Sans CJK JP" pitchFamily="34" charset="0"/>
                <a:ea typeface="Noto Sans CJK JP" pitchFamily="34" charset="-122"/>
                <a:cs typeface="Noto Sans CJK JP" pitchFamily="34" charset="-120"/>
              </a:rPr>
              <a:t>1. Aさんは何を恐れて黙っているか</a:t>
            </a:r>
            <a:endParaRPr lang="en-US" sz="1900" dirty="0"/>
          </a:p>
          <a:p>
            <a:pPr algn="l" indent="0" marL="0">
              <a:lnSpc>
                <a:spcPct val="115000"/>
              </a:lnSpc>
              <a:buNone/>
            </a:pPr>
            <a:r>
              <a:rPr lang="en-US" sz="1900" dirty="0">
                <a:solidFill>
                  <a:srgbClr val="1F2A44"/>
                </a:solidFill>
                <a:latin typeface="Noto Sans CJK JP" pitchFamily="34" charset="0"/>
                <a:ea typeface="Noto Sans CJK JP" pitchFamily="34" charset="-122"/>
                <a:cs typeface="Noto Sans CJK JP" pitchFamily="34" charset="-120"/>
              </a:rPr>
              <a:t>2. 聞く側は、最初にどの一言を返すか</a:t>
            </a:r>
            <a:endParaRPr lang="en-US" sz="1900" dirty="0"/>
          </a:p>
          <a:p>
            <a:pPr algn="l" indent="0" marL="0">
              <a:lnSpc>
                <a:spcPct val="115000"/>
              </a:lnSpc>
              <a:buNone/>
            </a:pPr>
            <a:r>
              <a:rPr lang="en-US" sz="1900" dirty="0">
                <a:solidFill>
                  <a:srgbClr val="1F2A44"/>
                </a:solidFill>
                <a:latin typeface="Noto Sans CJK JP" pitchFamily="34" charset="0"/>
                <a:ea typeface="Noto Sans CJK JP" pitchFamily="34" charset="-122"/>
                <a:cs typeface="Noto Sans CJK JP" pitchFamily="34" charset="-120"/>
              </a:rPr>
              <a:t>3. コンプライアンス上、どこへつなぐか</a:t>
            </a:r>
            <a:endParaRPr lang="en-US" sz="1900" dirty="0"/>
          </a:p>
        </p:txBody>
      </p:sp>
      <p:sp>
        <p:nvSpPr>
          <p:cNvPr id="10" name="Text 7"/>
          <p:cNvSpPr/>
          <p:nvPr/>
        </p:nvSpPr>
        <p:spPr>
          <a:xfrm>
            <a:off x="713232" y="5724144"/>
            <a:ext cx="5120640" cy="274320"/>
          </a:xfrm>
          <a:prstGeom prst="rect">
            <a:avLst/>
          </a:prstGeom>
          <a:noFill/>
          <a:ln/>
        </p:spPr>
        <p:txBody>
          <a:bodyPr wrap="square" lIns="0" tIns="0" rIns="0" bIns="0" rtlCol="0" anchor="t">
            <a:normAutofit/>
          </a:bodyPr>
          <a:lstStyle/>
          <a:p>
            <a:pPr algn="l" indent="0" marL="0">
              <a:lnSpc>
                <a:spcPct val="110000"/>
              </a:lnSpc>
              <a:buNone/>
            </a:pPr>
            <a:r>
              <a:rPr lang="en-US" sz="1650" b="1" dirty="0">
                <a:solidFill>
                  <a:srgbClr val="B8944D"/>
                </a:solidFill>
                <a:latin typeface="Noto Sans CJK JP" pitchFamily="34" charset="0"/>
                <a:ea typeface="Noto Sans CJK JP" pitchFamily="34" charset="-122"/>
                <a:cs typeface="Noto Sans CJK JP" pitchFamily="34" charset="-120"/>
              </a:rPr>
              <a:t>個人1分 → ペア/小グループ5分 → 共有2分</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今日から始める3つの約束</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心理的安全性を「雰囲気」ではなく、反応の習慣にする</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08</a:t>
            </a:r>
            <a:endParaRPr lang="en-US" sz="800" dirty="0"/>
          </a:p>
        </p:txBody>
      </p:sp>
      <p:pic>
        <p:nvPicPr>
          <p:cNvPr id="5" name="Image 0" descr="/mnt/data/a_bright_office_or_meeting_room_scene_overall_wid_batch_4.png">    </p:cNvPr>
          <p:cNvPicPr>
            <a:picLocks noChangeAspect="1"/>
          </p:cNvPicPr>
          <p:nvPr/>
        </p:nvPicPr>
        <p:blipFill>
          <a:blip r:embed="rId1"/>
          <a:srcRect l="3" r="3" t="0" b="0"/>
          <a:stretch/>
        </p:blipFill>
        <p:spPr>
          <a:xfrm>
            <a:off x="6537960" y="1417320"/>
            <a:ext cx="5166360" cy="2907792"/>
          </a:xfrm>
          <a:prstGeom prst="rect">
            <a:avLst/>
          </a:prstGeom>
        </p:spPr>
      </p:pic>
      <p:sp>
        <p:nvSpPr>
          <p:cNvPr id="6" name="Text 3"/>
          <p:cNvSpPr/>
          <p:nvPr/>
        </p:nvSpPr>
        <p:spPr>
          <a:xfrm>
            <a:off x="713232" y="1417320"/>
            <a:ext cx="1143000" cy="256032"/>
          </a:xfrm>
          <a:prstGeom prst="rect">
            <a:avLst/>
          </a:prstGeom>
          <a:noFill/>
          <a:ln/>
        </p:spPr>
        <p:txBody>
          <a:bodyPr wrap="square" lIns="0" tIns="0" rIns="0" bIns="0" rtlCol="0" anchor="t">
            <a:normAutofit/>
          </a:bodyPr>
          <a:lstStyle/>
          <a:p>
            <a:pPr algn="l" indent="0" marL="0">
              <a:lnSpc>
                <a:spcPct val="110000"/>
              </a:lnSpc>
              <a:buNone/>
            </a:pPr>
            <a:r>
              <a:rPr lang="en-US" sz="1400" b="1" dirty="0">
                <a:solidFill>
                  <a:srgbClr val="1F8F8A"/>
                </a:solidFill>
                <a:latin typeface="Noto Sans CJK JP" pitchFamily="34" charset="0"/>
                <a:ea typeface="Noto Sans CJK JP" pitchFamily="34" charset="-122"/>
                <a:cs typeface="Noto Sans CJK JP" pitchFamily="34" charset="-120"/>
              </a:rPr>
              <a:t>約束 1</a:t>
            </a:r>
            <a:endParaRPr lang="en-US" sz="1400" dirty="0"/>
          </a:p>
        </p:txBody>
      </p:sp>
      <p:sp>
        <p:nvSpPr>
          <p:cNvPr id="7" name="Text 4"/>
          <p:cNvSpPr/>
          <p:nvPr/>
        </p:nvSpPr>
        <p:spPr>
          <a:xfrm>
            <a:off x="1993392" y="1353312"/>
            <a:ext cx="4114800" cy="320040"/>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違和感を言った人を、まず責めない</a:t>
            </a:r>
            <a:endParaRPr lang="en-US" sz="2200" dirty="0"/>
          </a:p>
        </p:txBody>
      </p:sp>
      <p:sp>
        <p:nvSpPr>
          <p:cNvPr id="8" name="Text 5"/>
          <p:cNvSpPr/>
          <p:nvPr/>
        </p:nvSpPr>
        <p:spPr>
          <a:xfrm>
            <a:off x="713232" y="2542032"/>
            <a:ext cx="1143000" cy="256032"/>
          </a:xfrm>
          <a:prstGeom prst="rect">
            <a:avLst/>
          </a:prstGeom>
          <a:noFill/>
          <a:ln/>
        </p:spPr>
        <p:txBody>
          <a:bodyPr wrap="square" lIns="0" tIns="0" rIns="0" bIns="0" rtlCol="0" anchor="t">
            <a:normAutofit/>
          </a:bodyPr>
          <a:lstStyle/>
          <a:p>
            <a:pPr algn="l" indent="0" marL="0">
              <a:lnSpc>
                <a:spcPct val="110000"/>
              </a:lnSpc>
              <a:buNone/>
            </a:pPr>
            <a:r>
              <a:rPr lang="en-US" sz="1400" b="1" dirty="0">
                <a:solidFill>
                  <a:srgbClr val="1F8F8A"/>
                </a:solidFill>
                <a:latin typeface="Noto Sans CJK JP" pitchFamily="34" charset="0"/>
                <a:ea typeface="Noto Sans CJK JP" pitchFamily="34" charset="-122"/>
                <a:cs typeface="Noto Sans CJK JP" pitchFamily="34" charset="-120"/>
              </a:rPr>
              <a:t>約束 2</a:t>
            </a:r>
            <a:endParaRPr lang="en-US" sz="1400" dirty="0"/>
          </a:p>
        </p:txBody>
      </p:sp>
      <p:sp>
        <p:nvSpPr>
          <p:cNvPr id="9" name="Text 6"/>
          <p:cNvSpPr/>
          <p:nvPr/>
        </p:nvSpPr>
        <p:spPr>
          <a:xfrm>
            <a:off x="1993392" y="2478024"/>
            <a:ext cx="4206240" cy="320040"/>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事実・推測・判断を分けて確認する</a:t>
            </a:r>
            <a:endParaRPr lang="en-US" sz="2200" dirty="0"/>
          </a:p>
        </p:txBody>
      </p:sp>
      <p:sp>
        <p:nvSpPr>
          <p:cNvPr id="10" name="Text 7"/>
          <p:cNvSpPr/>
          <p:nvPr/>
        </p:nvSpPr>
        <p:spPr>
          <a:xfrm>
            <a:off x="713232" y="3666744"/>
            <a:ext cx="1143000" cy="256032"/>
          </a:xfrm>
          <a:prstGeom prst="rect">
            <a:avLst/>
          </a:prstGeom>
          <a:noFill/>
          <a:ln/>
        </p:spPr>
        <p:txBody>
          <a:bodyPr wrap="square" lIns="0" tIns="0" rIns="0" bIns="0" rtlCol="0" anchor="t">
            <a:normAutofit/>
          </a:bodyPr>
          <a:lstStyle/>
          <a:p>
            <a:pPr algn="l" indent="0" marL="0">
              <a:lnSpc>
                <a:spcPct val="110000"/>
              </a:lnSpc>
              <a:buNone/>
            </a:pPr>
            <a:r>
              <a:rPr lang="en-US" sz="1400" b="1" dirty="0">
                <a:solidFill>
                  <a:srgbClr val="1F8F8A"/>
                </a:solidFill>
                <a:latin typeface="Noto Sans CJK JP" pitchFamily="34" charset="0"/>
                <a:ea typeface="Noto Sans CJK JP" pitchFamily="34" charset="-122"/>
                <a:cs typeface="Noto Sans CJK JP" pitchFamily="34" charset="-120"/>
              </a:rPr>
              <a:t>約束 3</a:t>
            </a:r>
            <a:endParaRPr lang="en-US" sz="1400" dirty="0"/>
          </a:p>
        </p:txBody>
      </p:sp>
      <p:sp>
        <p:nvSpPr>
          <p:cNvPr id="11" name="Text 8"/>
          <p:cNvSpPr/>
          <p:nvPr/>
        </p:nvSpPr>
        <p:spPr>
          <a:xfrm>
            <a:off x="1993392" y="3602736"/>
            <a:ext cx="4160520" cy="320040"/>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迷ったら、記録して相談先につなぐ</a:t>
            </a:r>
            <a:endParaRPr lang="en-US" sz="2200" dirty="0"/>
          </a:p>
        </p:txBody>
      </p:sp>
      <p:sp>
        <p:nvSpPr>
          <p:cNvPr id="12" name="Text 9"/>
          <p:cNvSpPr/>
          <p:nvPr/>
        </p:nvSpPr>
        <p:spPr>
          <a:xfrm>
            <a:off x="713232" y="5148072"/>
            <a:ext cx="914400" cy="256032"/>
          </a:xfrm>
          <a:prstGeom prst="rect">
            <a:avLst/>
          </a:prstGeom>
          <a:noFill/>
          <a:ln/>
        </p:spPr>
        <p:txBody>
          <a:bodyPr wrap="square" lIns="0" tIns="0" rIns="0" bIns="0" rtlCol="0" anchor="t">
            <a:normAutofit/>
          </a:bodyPr>
          <a:lstStyle/>
          <a:p>
            <a:pPr algn="l" indent="0" marL="0">
              <a:lnSpc>
                <a:spcPct val="110000"/>
              </a:lnSpc>
              <a:buNone/>
            </a:pPr>
            <a:r>
              <a:rPr lang="en-US" sz="1500" b="1" dirty="0">
                <a:solidFill>
                  <a:srgbClr val="B8944D"/>
                </a:solidFill>
                <a:latin typeface="Noto Sans CJK JP" pitchFamily="34" charset="0"/>
                <a:ea typeface="Noto Sans CJK JP" pitchFamily="34" charset="-122"/>
                <a:cs typeface="Noto Sans CJK JP" pitchFamily="34" charset="-120"/>
              </a:rPr>
              <a:t>最後の問い</a:t>
            </a:r>
            <a:endParaRPr lang="en-US" sz="1500" dirty="0"/>
          </a:p>
        </p:txBody>
      </p:sp>
      <p:sp>
        <p:nvSpPr>
          <p:cNvPr id="13" name="Text 10"/>
          <p:cNvSpPr/>
          <p:nvPr/>
        </p:nvSpPr>
        <p:spPr>
          <a:xfrm>
            <a:off x="1737360" y="5102352"/>
            <a:ext cx="4297680" cy="310896"/>
          </a:xfrm>
          <a:prstGeom prst="rect">
            <a:avLst/>
          </a:prstGeom>
          <a:noFill/>
          <a:ln/>
        </p:spPr>
        <p:txBody>
          <a:bodyPr wrap="square" lIns="0" tIns="0" rIns="0" bIns="0" rtlCol="0" anchor="t">
            <a:normAutofit/>
          </a:bodyPr>
          <a:lstStyle/>
          <a:p>
            <a:pPr algn="l" indent="0" marL="0">
              <a:lnSpc>
                <a:spcPct val="110000"/>
              </a:lnSpc>
              <a:buNone/>
            </a:pPr>
            <a:r>
              <a:rPr lang="en-US" sz="2000" b="1" dirty="0">
                <a:solidFill>
                  <a:srgbClr val="111827"/>
                </a:solidFill>
                <a:latin typeface="Noto Sans CJK JP" pitchFamily="34" charset="0"/>
                <a:ea typeface="Noto Sans CJK JP" pitchFamily="34" charset="-122"/>
                <a:cs typeface="Noto Sans CJK JP" pitchFamily="34" charset="-120"/>
              </a:rPr>
              <a:t>自分が次の1週間で使う一言は？</a:t>
            </a:r>
            <a:endParaRPr lang="en-US" sz="2000" dirty="0"/>
          </a:p>
        </p:txBody>
      </p:sp>
      <p:sp>
        <p:nvSpPr>
          <p:cNvPr id="14" name="Text 11"/>
          <p:cNvSpPr/>
          <p:nvPr/>
        </p:nvSpPr>
        <p:spPr>
          <a:xfrm>
            <a:off x="1737360" y="5559552"/>
            <a:ext cx="4206240" cy="274320"/>
          </a:xfrm>
          <a:prstGeom prst="rect">
            <a:avLst/>
          </a:prstGeom>
          <a:noFill/>
          <a:ln/>
        </p:spPr>
        <p:txBody>
          <a:bodyPr wrap="square" lIns="0" tIns="0" rIns="0" bIns="0" rtlCol="0" anchor="t">
            <a:normAutofit/>
          </a:bodyPr>
          <a:lstStyle/>
          <a:p>
            <a:pPr algn="l" indent="0" marL="0">
              <a:lnSpc>
                <a:spcPct val="110000"/>
              </a:lnSpc>
              <a:buNone/>
            </a:pPr>
            <a:r>
              <a:rPr lang="en-US" sz="1550" dirty="0">
                <a:solidFill>
                  <a:srgbClr val="667085"/>
                </a:solidFill>
                <a:latin typeface="Noto Sans CJK JP" pitchFamily="34" charset="0"/>
                <a:ea typeface="Noto Sans CJK JP" pitchFamily="34" charset="-122"/>
                <a:cs typeface="Noto Sans CJK JP" pitchFamily="34" charset="-120"/>
              </a:rPr>
              <a:t>例：「念のため、事実確認してから進めましょう」</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66928" y="320040"/>
            <a:ext cx="5989320" cy="457200"/>
          </a:xfrm>
          <a:prstGeom prst="rect">
            <a:avLst/>
          </a:prstGeom>
          <a:noFill/>
          <a:ln/>
        </p:spPr>
        <p:txBody>
          <a:bodyPr wrap="square" lIns="0" tIns="0" rIns="0" bIns="0" rtlCol="0" anchor="t">
            <a:normAutofit/>
          </a:bodyPr>
          <a:lstStyle/>
          <a:p>
            <a:pPr algn="l" indent="0" marL="0">
              <a:lnSpc>
                <a:spcPct val="110000"/>
              </a:lnSpc>
              <a:buNone/>
            </a:pPr>
            <a:r>
              <a:rPr lang="en-US" sz="2800" b="1" dirty="0">
                <a:solidFill>
                  <a:srgbClr val="1F2A44"/>
                </a:solidFill>
                <a:latin typeface="Noto Sans CJK JP" pitchFamily="34" charset="0"/>
                <a:ea typeface="Noto Sans CJK JP" pitchFamily="34" charset="-122"/>
                <a:cs typeface="Noto Sans CJK JP" pitchFamily="34" charset="-120"/>
              </a:rPr>
              <a:t>参考資料・補足</a:t>
            </a:r>
            <a:endParaRPr lang="en-US" sz="2800" dirty="0"/>
          </a:p>
        </p:txBody>
      </p:sp>
      <p:sp>
        <p:nvSpPr>
          <p:cNvPr id="3" name="Text 1"/>
          <p:cNvSpPr/>
          <p:nvPr/>
        </p:nvSpPr>
        <p:spPr>
          <a:xfrm>
            <a:off x="603504" y="841248"/>
            <a:ext cx="5943600" cy="256032"/>
          </a:xfrm>
          <a:prstGeom prst="rect">
            <a:avLst/>
          </a:prstGeom>
          <a:noFill/>
          <a:ln/>
        </p:spPr>
        <p:txBody>
          <a:bodyPr wrap="square" lIns="0" tIns="0" rIns="0" bIns="0" rtlCol="0" anchor="t"/>
          <a:lstStyle/>
          <a:p>
            <a:pPr algn="l" indent="0" marL="0">
              <a:lnSpc>
                <a:spcPct val="110000"/>
              </a:lnSpc>
              <a:buNone/>
            </a:pPr>
            <a:r>
              <a:rPr lang="en-US" sz="1250" dirty="0">
                <a:solidFill>
                  <a:srgbClr val="1F8F8A"/>
                </a:solidFill>
                <a:latin typeface="Noto Sans CJK JP" pitchFamily="34" charset="0"/>
                <a:ea typeface="Noto Sans CJK JP" pitchFamily="34" charset="-122"/>
                <a:cs typeface="Noto Sans CJK JP" pitchFamily="34" charset="-120"/>
              </a:rPr>
              <a:t>投影必須ではない appendix</a:t>
            </a:r>
            <a:endParaRPr lang="en-US" sz="1250" dirty="0"/>
          </a:p>
        </p:txBody>
      </p:sp>
      <p:sp>
        <p:nvSpPr>
          <p:cNvPr id="4" name="Text 2"/>
          <p:cNvSpPr/>
          <p:nvPr/>
        </p:nvSpPr>
        <p:spPr>
          <a:xfrm>
            <a:off x="11155680" y="6473952"/>
            <a:ext cx="502920" cy="201168"/>
          </a:xfrm>
          <a:prstGeom prst="rect">
            <a:avLst/>
          </a:prstGeom>
          <a:noFill/>
          <a:ln/>
        </p:spPr>
        <p:txBody>
          <a:bodyPr wrap="square" lIns="0" tIns="0" rIns="0" bIns="0" rtlCol="0" anchor="t"/>
          <a:lstStyle/>
          <a:p>
            <a:pPr algn="r" indent="0" marL="0">
              <a:lnSpc>
                <a:spcPct val="110000"/>
              </a:lnSpc>
              <a:buNone/>
            </a:pPr>
            <a:r>
              <a:rPr lang="en-US" sz="800" dirty="0">
                <a:solidFill>
                  <a:srgbClr val="98A2B3"/>
                </a:solidFill>
                <a:latin typeface="Noto Sans CJK JP" pitchFamily="34" charset="0"/>
                <a:ea typeface="Noto Sans CJK JP" pitchFamily="34" charset="-122"/>
                <a:cs typeface="Noto Sans CJK JP" pitchFamily="34" charset="-120"/>
              </a:rPr>
              <a:t>09</a:t>
            </a:r>
            <a:endParaRPr lang="en-US" sz="800" dirty="0"/>
          </a:p>
        </p:txBody>
      </p:sp>
      <p:sp>
        <p:nvSpPr>
          <p:cNvPr id="5" name="Text 3"/>
          <p:cNvSpPr/>
          <p:nvPr/>
        </p:nvSpPr>
        <p:spPr>
          <a:xfrm>
            <a:off x="713232" y="1280160"/>
            <a:ext cx="1828800" cy="310896"/>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参考資料</a:t>
            </a:r>
            <a:endParaRPr lang="en-US" sz="2200" dirty="0"/>
          </a:p>
        </p:txBody>
      </p:sp>
      <p:sp>
        <p:nvSpPr>
          <p:cNvPr id="6" name="Text 4"/>
          <p:cNvSpPr/>
          <p:nvPr/>
        </p:nvSpPr>
        <p:spPr>
          <a:xfrm>
            <a:off x="841248" y="1874520"/>
            <a:ext cx="10515600" cy="1508760"/>
          </a:xfrm>
          <a:prstGeom prst="rect">
            <a:avLst/>
          </a:prstGeom>
          <a:noFill/>
          <a:ln/>
        </p:spPr>
        <p:txBody>
          <a:bodyPr wrap="square" lIns="0" tIns="0" rIns="0" bIns="0" rtlCol="0" anchor="t">
            <a:normAutofit/>
          </a:bodyPr>
          <a:lstStyle/>
          <a:p>
            <a:pPr algn="l" indent="0" marL="0">
              <a:lnSpc>
                <a:spcPct val="112000"/>
              </a:lnSpc>
              <a:buNone/>
            </a:pPr>
            <a:r>
              <a:rPr lang="en-US" sz="1550" dirty="0">
                <a:solidFill>
                  <a:srgbClr val="111827"/>
                </a:solidFill>
                <a:latin typeface="Noto Sans CJK JP" pitchFamily="34" charset="0"/>
                <a:ea typeface="Noto Sans CJK JP" pitchFamily="34" charset="-122"/>
                <a:cs typeface="Noto Sans CJK JP" pitchFamily="34" charset="-120"/>
              </a:rPr>
              <a:t>・Amy C. Edmondson, “Psychological Safety and Learning Behavior in Work Teams,” Administrative Science Quarterly, 1999.</a:t>
            </a:r>
            <a:endParaRPr lang="en-US" sz="1550" dirty="0"/>
          </a:p>
          <a:p>
            <a:pPr algn="l" indent="0" marL="0">
              <a:lnSpc>
                <a:spcPct val="112000"/>
              </a:lnSpc>
              <a:buNone/>
            </a:pPr>
            <a:r>
              <a:rPr lang="en-US" sz="1550" dirty="0">
                <a:solidFill>
                  <a:srgbClr val="111827"/>
                </a:solidFill>
                <a:latin typeface="Noto Sans CJK JP" pitchFamily="34" charset="0"/>
                <a:ea typeface="Noto Sans CJK JP" pitchFamily="34" charset="-122"/>
                <a:cs typeface="Noto Sans CJK JP" pitchFamily="34" charset="-120"/>
              </a:rPr>
              <a:t>・Google re:Work, “Understand team effectiveness.”</a:t>
            </a:r>
            <a:endParaRPr lang="en-US" sz="1550" dirty="0"/>
          </a:p>
          <a:p>
            <a:pPr algn="l" indent="0" marL="0">
              <a:lnSpc>
                <a:spcPct val="112000"/>
              </a:lnSpc>
              <a:buNone/>
            </a:pPr>
            <a:r>
              <a:rPr lang="en-US" sz="1550" dirty="0">
                <a:solidFill>
                  <a:srgbClr val="111827"/>
                </a:solidFill>
                <a:latin typeface="Noto Sans CJK JP" pitchFamily="34" charset="0"/>
                <a:ea typeface="Noto Sans CJK JP" pitchFamily="34" charset="-122"/>
                <a:cs typeface="Noto Sans CJK JP" pitchFamily="34" charset="-120"/>
              </a:rPr>
              <a:t>・消費者庁「公益通報者保護制度｜事業者の方へ」</a:t>
            </a:r>
            <a:endParaRPr lang="en-US" sz="1550" dirty="0"/>
          </a:p>
          <a:p>
            <a:pPr algn="l" indent="0" marL="0">
              <a:lnSpc>
                <a:spcPct val="112000"/>
              </a:lnSpc>
              <a:buNone/>
            </a:pPr>
            <a:r>
              <a:rPr lang="en-US" sz="1550" dirty="0">
                <a:solidFill>
                  <a:srgbClr val="111827"/>
                </a:solidFill>
                <a:latin typeface="Noto Sans CJK JP" pitchFamily="34" charset="0"/>
                <a:ea typeface="Noto Sans CJK JP" pitchFamily="34" charset="-122"/>
                <a:cs typeface="Noto Sans CJK JP" pitchFamily="34" charset="-120"/>
              </a:rPr>
              <a:t>・厚生労働省「職場におけるハラスメントの防止のために」</a:t>
            </a:r>
            <a:endParaRPr lang="en-US" sz="1550" dirty="0"/>
          </a:p>
          <a:p>
            <a:pPr algn="l" indent="0" marL="0">
              <a:lnSpc>
                <a:spcPct val="112000"/>
              </a:lnSpc>
              <a:buNone/>
            </a:pPr>
            <a:r>
              <a:rPr lang="en-US" sz="1550" dirty="0">
                <a:solidFill>
                  <a:srgbClr val="111827"/>
                </a:solidFill>
                <a:latin typeface="Noto Sans CJK JP" pitchFamily="34" charset="0"/>
                <a:ea typeface="Noto Sans CJK JP" pitchFamily="34" charset="-122"/>
                <a:cs typeface="Noto Sans CJK JP" pitchFamily="34" charset="-120"/>
              </a:rPr>
              <a:t>・政府広報オンライン「公益通報者保護法が改正。内部通報制度で不正をストップ！」</a:t>
            </a:r>
            <a:endParaRPr lang="en-US" sz="1550" dirty="0"/>
          </a:p>
        </p:txBody>
      </p:sp>
      <p:sp>
        <p:nvSpPr>
          <p:cNvPr id="7" name="Text 5"/>
          <p:cNvSpPr/>
          <p:nvPr/>
        </p:nvSpPr>
        <p:spPr>
          <a:xfrm>
            <a:off x="713232" y="3977640"/>
            <a:ext cx="2194560" cy="310896"/>
          </a:xfrm>
          <a:prstGeom prst="rect">
            <a:avLst/>
          </a:prstGeom>
          <a:noFill/>
          <a:ln/>
        </p:spPr>
        <p:txBody>
          <a:bodyPr wrap="square" lIns="0" tIns="0" rIns="0" bIns="0" rtlCol="0" anchor="t">
            <a:normAutofit/>
          </a:bodyPr>
          <a:lstStyle/>
          <a:p>
            <a:pPr algn="l" indent="0" marL="0">
              <a:lnSpc>
                <a:spcPct val="110000"/>
              </a:lnSpc>
              <a:buNone/>
            </a:pPr>
            <a:r>
              <a:rPr lang="en-US" sz="2200" b="1" dirty="0">
                <a:solidFill>
                  <a:srgbClr val="1F2A44"/>
                </a:solidFill>
                <a:latin typeface="Noto Sans CJK JP" pitchFamily="34" charset="0"/>
                <a:ea typeface="Noto Sans CJK JP" pitchFamily="34" charset="-122"/>
                <a:cs typeface="Noto Sans CJK JP" pitchFamily="34" charset="-120"/>
              </a:rPr>
              <a:t>個別事案への対応</a:t>
            </a:r>
            <a:endParaRPr lang="en-US" sz="2200" dirty="0"/>
          </a:p>
        </p:txBody>
      </p:sp>
      <p:sp>
        <p:nvSpPr>
          <p:cNvPr id="8" name="Text 6"/>
          <p:cNvSpPr/>
          <p:nvPr/>
        </p:nvSpPr>
        <p:spPr>
          <a:xfrm>
            <a:off x="841248" y="4526280"/>
            <a:ext cx="10515600" cy="658368"/>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667085"/>
                </a:solidFill>
                <a:latin typeface="Noto Sans CJK JP" pitchFamily="34" charset="0"/>
                <a:ea typeface="Noto Sans CJK JP" pitchFamily="34" charset="-122"/>
                <a:cs typeface="Noto Sans CJK JP" pitchFamily="34" charset="-120"/>
              </a:rPr>
              <a:t>この研修資料は一般的な啓発・対話用です。個別の違反該当性、懲戒、法的判断、通報対応は、社内規程および人事・法務・コンプライアンス部門の手順に従ってください。</a:t>
            </a:r>
            <a:endParaRPr lang="en-US" sz="1600" dirty="0"/>
          </a:p>
        </p:txBody>
      </p:sp>
      <p:sp>
        <p:nvSpPr>
          <p:cNvPr id="9" name="Text 7"/>
          <p:cNvSpPr/>
          <p:nvPr/>
        </p:nvSpPr>
        <p:spPr>
          <a:xfrm>
            <a:off x="841248" y="5687568"/>
            <a:ext cx="10515600" cy="347472"/>
          </a:xfrm>
          <a:prstGeom prst="rect">
            <a:avLst/>
          </a:prstGeom>
          <a:noFill/>
          <a:ln/>
        </p:spPr>
        <p:txBody>
          <a:bodyPr wrap="square" lIns="0" tIns="0" rIns="0" bIns="0" rtlCol="0" anchor="t">
            <a:normAutofit/>
          </a:bodyPr>
          <a:lstStyle/>
          <a:p>
            <a:pPr algn="l" indent="0" marL="0">
              <a:lnSpc>
                <a:spcPct val="110000"/>
              </a:lnSpc>
              <a:buNone/>
            </a:pPr>
            <a:r>
              <a:rPr lang="en-US" sz="1550" b="1" dirty="0">
                <a:solidFill>
                  <a:srgbClr val="B8944D"/>
                </a:solidFill>
                <a:latin typeface="Noto Sans CJK JP" pitchFamily="34" charset="0"/>
                <a:ea typeface="Noto Sans CJK JP" pitchFamily="34" charset="-122"/>
                <a:cs typeface="Noto Sans CJK JP" pitchFamily="34" charset="-120"/>
              </a:rPr>
              <a:t>ファシリテーター注意：実名・顧客名・案件名は扱わない。相談や開示が出た場合は、場で評価せず、適切な相談窓口につなぐ。</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心理的安全性 × コンプライアンス研修 30分版</dc:title>
  <dc:subject>心理的安全性をテーマにしたコンプライアンス研修（30分版）</dc:subject>
  <dc:creator>OpenAI</dc:creator>
  <cp:lastModifiedBy>OpenAI</cp:lastModifiedBy>
  <cp:revision>1</cp:revision>
  <dcterms:created xsi:type="dcterms:W3CDTF">2026-05-21T06:29:39Z</dcterms:created>
  <dcterms:modified xsi:type="dcterms:W3CDTF">2026-05-21T06:29:39Z</dcterms:modified>
</cp:coreProperties>
</file>